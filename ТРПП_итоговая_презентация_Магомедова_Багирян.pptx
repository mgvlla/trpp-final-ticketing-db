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ru-RU"/>
    </a:defPPr>
    <a:lvl1pPr marL="0" indent="0"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 horizBarState="restored" vertBarState="restored">
    <p:restoredLeft sz="15620" autoAdjust="0"/>
    <p:restoredTop sz="94660" autoAdjust="0"/>
  </p:normalViewPr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lt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 txBox="1"/>
          <p:nvPr/>
        </p:nvSpPr>
        <a:xfrm>
          <a:off x="0" y="0"/>
          <a:ext cx="4300000" cy="6858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 txBox="1"/>
          <p:nvPr/>
        </p:nvSpPr>
        <a:xfrm>
          <a:off x="4300000" y="0"/>
          <a:ext cx="220000" cy="6858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a:xfrm>
          <a:off x="700000" y="900000"/>
          <a:ext cx="3200000" cy="18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8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Итоговый проект</a:t>
            </a:r>
            <a:endParaRPr lang="ru-RU" sz="2800">
              <a:solidFill>
                <a:srgbClr val="FFFFFF"/>
              </a:solidFill>
            </a:endParaRPr>
          </a:p>
          <a:p>
            <a:pPr algn="l"/>
            <a:r>
              <a:rPr lang="ru-RU" sz="28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 дисциплине ТРПП</a:t>
            </a:r>
            <a:endParaRPr lang="ru-RU" sz="2800">
              <a:solidFill>
                <a:srgbClr val="FFFFFF"/>
              </a:solidFill>
            </a:endParaRPr>
          </a:p>
        </p:txBody>
      </p:sp>
      <p:sp>
        <p:nvSpPr>
          <p:cNvPr id="6" name="Text 6"/>
          <p:cNvSpPr txBox="1"/>
          <p:nvPr/>
        </p:nvSpPr>
        <a:xfrm>
          <a:off x="700000" y="2700000"/>
          <a:ext cx="2900000" cy="14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Тема проекта:</a:t>
            </a:r>
            <a:endParaRPr lang="ru-RU" sz="2200">
              <a:solidFill>
                <a:srgbClr val="FFFFFF"/>
              </a:solidFill>
            </a:endParaRPr>
          </a:p>
          <a:p>
            <a:pPr algn="l"/>
            <a:r>
              <a:rPr lang="ru-RU" sz="2200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Разработка реляционной базы данных для продажи билетов на мероприятия</a:t>
            </a:r>
            <a:endParaRPr lang="ru-RU" sz="2200">
              <a:solidFill>
                <a:srgbClr val="FFFFFF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5000000" y="900000"/>
          <a:ext cx="6000000" cy="1200000"/>
        </a:xfrm>
        <p:spPr>
          <a:solidFill>
            <a:srgbClr val="E7D7C1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400" b="1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Авторы</a:t>
            </a:r>
            <a:endParaRPr lang="ru-RU" sz="2400">
              <a:solidFill>
                <a:srgbClr val="1D2730"/>
              </a:solidFill>
            </a:endParaRPr>
          </a:p>
          <a:p>
            <a:pPr algn="l"/>
            <a:r>
              <a:rPr lang="ru-RU" sz="2400" b="1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Магомедова Лолита</a:t>
            </a:r>
            <a:endParaRPr lang="ru-RU" sz="2400">
              <a:solidFill>
                <a:srgbClr val="1D2730"/>
              </a:solidFill>
            </a:endParaRPr>
          </a:p>
          <a:p>
            <a:pPr algn="l"/>
            <a:r>
              <a:rPr lang="ru-RU" sz="2400" b="1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Багирян Марьям</a:t>
            </a:r>
            <a:endParaRPr lang="ru-RU" sz="24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5000000" y="2500000"/>
          <a:ext cx="6000000" cy="9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СУБД: PostgreSQL 16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Развертывание: Docker Desktop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Платформа: macOS</a:t>
            </a:r>
            <a:endParaRPr lang="ru-RU" sz="2000">
              <a:solidFill>
                <a:srgbClr val="1D2730"/>
              </a:solidFill>
            </a:endParaRPr>
          </a:p>
        </p:txBody>
      </p:sp>
      <p:sp>
        <p:nvSpPr>
          <p:cNvPr id="9" name="Text 9"/>
          <p:cNvSpPr txBox="1"/>
          <p:nvPr/>
        </p:nvSpPr>
        <a:xfrm>
          <a:off x="5000000" y="5400000"/>
          <a:ext cx="5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1800" dirty="0" smtClean="0">
                <a:solidFill>
                  <a:srgbClr val="5E6A73"/>
                </a:solidFill>
                <a:latin typeface="Aptos"/>
                <a:ea typeface="Aptos"/>
                <a:cs typeface="Aptos"/>
              </a:rPr>
              <a:t>Москва, 2026</a:t>
            </a:r>
            <a:endParaRPr lang="ru-RU" sz="1800">
              <a:solidFill>
                <a:srgbClr val="5E6A7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Актуальность, цель и задачи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650000" y="1200000"/>
          <a:ext cx="3300000" cy="1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Актуальность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Автоматизация продаж билетов нужна концертным площадкам, театрам, лекториям и организаторам событий. База данных позволяет хранить заказы, билеты, платежи и сведения о клиентах без потери целостности.</a:t>
            </a:r>
            <a:endParaRPr lang="ru-RU" sz="20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4200000" y="1200000"/>
          <a:ext cx="3300000" cy="1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Цель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Спроектировать и реализовать реляционную базу данных, которая хранит информацию о мероприятиях, пользователях, заказах, билетах и оплатах.</a:t>
            </a:r>
            <a:endParaRPr lang="ru-RU" sz="20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7750000" y="1200000"/>
          <a:ext cx="3400000" cy="1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Результат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Готовый проект запускается локально на MacBook через Docker и содержит SQL-скрипты, тестовые данные, запросы и отдельные отчеты.</a:t>
            </a:r>
            <a:endParaRPr lang="ru-RU" sz="2000">
              <a:solidFill>
                <a:srgbClr val="1D2730"/>
              </a:solidFill>
            </a:endParaRPr>
          </a:p>
        </p:txBody>
      </p:sp>
      <p:sp>
        <p:nvSpPr>
          <p:cNvPr id="9" name="BoxText 9"/>
          <p:cNvSpPr txBox="1"/>
          <p:nvPr/>
        </p:nvSpPr>
        <a:xfrm>
          <a:off x="650000" y="3450000"/>
          <a:ext cx="10500000" cy="2200000"/>
        </a:xfrm>
        <p:spPr>
          <a:solidFill>
            <a:srgbClr val="E7D7C1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Ключевые задачи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определить предметную область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выделить сущности и связи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реализовать схему PostgreSQL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наполнить базу тестовыми данными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подготовить демонстрационные SQL-запросы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описать запуск и демонстрацию проекта на защите</a:t>
            </a:r>
            <a:endParaRPr lang="ru-RU" sz="2100">
              <a:solidFill>
                <a:srgbClr val="1D273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Предметная область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700000" y="1400000"/>
          <a:ext cx="2700000" cy="36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Кто работает с системой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организаторы мероприятий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менеджеры площадок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покупатели билетов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администратор сервиса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3650000" y="1400000"/>
          <a:ext cx="2800000" cy="36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Что хранится в базе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категории событий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организаторы и площадки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мероприятия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пользователи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билеты и статусы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заказы и оплаты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6700000" y="1400000"/>
          <a:ext cx="4500000" cy="36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Бизнес-процесс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1. Организатор создает мероприятие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2. Для события формируются билеты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3. Пользователь оформляет заказ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4. Система фиксирует оплату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5. Запросы показывают свободные места, продажи и выручку</a:t>
            </a:r>
            <a:endParaRPr lang="ru-RU" sz="2100">
              <a:solidFill>
                <a:srgbClr val="1D273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Архитектура решения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700000" y="1600000"/>
          <a:ext cx="2300000" cy="1300000"/>
        </a:xfrm>
        <p:spPr>
          <a:solidFill>
            <a:srgbClr val="17324D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macOS</a:t>
            </a:r>
            <a:endParaRPr lang="ru-RU" sz="2200">
              <a:solidFill>
                <a:srgbClr val="FFFFFF"/>
              </a:solidFill>
            </a:endParaRPr>
          </a:p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Рабочая среда студента</a:t>
            </a:r>
            <a:endParaRPr lang="ru-RU" sz="2200">
              <a:solidFill>
                <a:srgbClr val="FFFFFF"/>
              </a:solidFill>
            </a:endParaRPr>
          </a:p>
        </p:txBody>
      </p:sp>
      <p:sp>
        <p:nvSpPr>
          <p:cNvPr id="7" name="Text 7"/>
          <p:cNvSpPr txBox="1"/>
          <p:nvPr/>
        </p:nvSpPr>
        <a:xfrm>
          <a:off x="3150000" y="2050000"/>
          <a:ext cx="45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c"/>
            <a:r>
              <a:rPr lang="ru-RU" sz="2800" b="1" dirty="0" smtClean="0">
                <a:solidFill>
                  <a:srgbClr val="C86B3C"/>
                </a:solidFill>
                <a:latin typeface="Aptos"/>
                <a:ea typeface="Aptos"/>
                <a:cs typeface="Aptos"/>
              </a:rPr>
              <a:t>→</a:t>
            </a:r>
            <a:endParaRPr lang="ru-RU" sz="2800">
              <a:solidFill>
                <a:srgbClr val="C86B3C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3800000" y="1600000"/>
          <a:ext cx="2400000" cy="1300000"/>
        </a:xfrm>
        <p:spPr>
          <a:solidFill>
            <a:srgbClr val="2E6F6D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Desktop</a:t>
            </a:r>
            <a:endParaRPr lang="ru-RU" sz="2200">
              <a:solidFill>
                <a:srgbClr val="FFFFFF"/>
              </a:solidFill>
            </a:endParaRPr>
          </a:p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Запускает контейнер с PostgreSQL</a:t>
            </a:r>
            <a:endParaRPr lang="ru-RU" sz="2200">
              <a:solidFill>
                <a:srgbClr val="FFFFFF"/>
              </a:solidFill>
            </a:endParaRPr>
          </a:p>
        </p:txBody>
      </p:sp>
      <p:sp>
        <p:nvSpPr>
          <p:cNvPr id="9" name="Text 9"/>
          <p:cNvSpPr txBox="1"/>
          <p:nvPr/>
        </p:nvSpPr>
        <a:xfrm>
          <a:off x="6300000" y="2050000"/>
          <a:ext cx="45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c"/>
            <a:r>
              <a:rPr lang="ru-RU" sz="2800" b="1" dirty="0" smtClean="0">
                <a:solidFill>
                  <a:srgbClr val="C86B3C"/>
                </a:solidFill>
                <a:latin typeface="Aptos"/>
                <a:ea typeface="Aptos"/>
                <a:cs typeface="Aptos"/>
              </a:rPr>
              <a:t>→</a:t>
            </a:r>
            <a:endParaRPr lang="ru-RU" sz="2800">
              <a:solidFill>
                <a:srgbClr val="C86B3C"/>
              </a:solidFill>
            </a:endParaRPr>
          </a:p>
        </p:txBody>
      </p:sp>
      <p:sp>
        <p:nvSpPr>
          <p:cNvPr id="10" name="BoxText 10"/>
          <p:cNvSpPr txBox="1"/>
          <p:nvPr/>
        </p:nvSpPr>
        <a:xfrm>
          <a:off x="7000000" y="1600000"/>
          <a:ext cx="2400000" cy="1300000"/>
        </a:xfrm>
        <p:spPr>
          <a:solidFill>
            <a:srgbClr val="254C6B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PostgreSQL 16</a:t>
            </a:r>
            <a:endParaRPr lang="ru-RU" sz="2200">
              <a:solidFill>
                <a:srgbClr val="FFFFFF"/>
              </a:solidFill>
            </a:endParaRPr>
          </a:p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Хранение структуры и данных</a:t>
            </a:r>
            <a:endParaRPr lang="ru-RU" sz="2200">
              <a:solidFill>
                <a:srgbClr val="FFFFFF"/>
              </a:solidFill>
            </a:endParaRPr>
          </a:p>
        </p:txBody>
      </p:sp>
      <p:sp>
        <p:nvSpPr>
          <p:cNvPr id="11" name="Text 11"/>
          <p:cNvSpPr txBox="1"/>
          <p:nvPr/>
        </p:nvSpPr>
        <a:xfrm>
          <a:off x="9500000" y="2050000"/>
          <a:ext cx="45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c"/>
            <a:r>
              <a:rPr lang="ru-RU" sz="2800" b="1" dirty="0" smtClean="0">
                <a:solidFill>
                  <a:srgbClr val="C86B3C"/>
                </a:solidFill>
                <a:latin typeface="Aptos"/>
                <a:ea typeface="Aptos"/>
                <a:cs typeface="Aptos"/>
              </a:rPr>
              <a:t>→</a:t>
            </a:r>
            <a:endParaRPr lang="ru-RU" sz="2800">
              <a:solidFill>
                <a:srgbClr val="C86B3C"/>
              </a:solidFill>
            </a:endParaRPr>
          </a:p>
        </p:txBody>
      </p:sp>
      <p:sp>
        <p:nvSpPr>
          <p:cNvPr id="12" name="BoxText 12"/>
          <p:cNvSpPr txBox="1"/>
          <p:nvPr/>
        </p:nvSpPr>
        <a:xfrm>
          <a:off x="10200000" y="1600000"/>
          <a:ext cx="1300000" cy="1300000"/>
        </a:xfrm>
        <p:spPr>
          <a:solidFill>
            <a:srgbClr val="C86B3C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SQL</a:t>
            </a:r>
            <a:endParaRPr lang="ru-RU" sz="2200">
              <a:solidFill>
                <a:srgbClr val="FFFFFF"/>
              </a:solidFill>
            </a:endParaRPr>
          </a:p>
          <a:p>
            <a:pPr algn="l"/>
            <a:r>
              <a:rPr lang="ru-RU" sz="22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Запросы</a:t>
            </a:r>
            <a:endParaRPr lang="ru-RU" sz="2200">
              <a:solidFill>
                <a:srgbClr val="FFFFFF"/>
              </a:solidFill>
            </a:endParaRPr>
          </a:p>
        </p:txBody>
      </p:sp>
      <p:sp>
        <p:nvSpPr>
          <p:cNvPr id="13" name="BoxText 13"/>
          <p:cNvSpPr txBox="1"/>
          <p:nvPr/>
        </p:nvSpPr>
        <a:xfrm>
          <a:off x="900000" y="3800000"/>
          <a:ext cx="9900000" cy="17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Файлы проекта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docker-compose.yml — конфигурация контейнера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sql/01_schema.sql — создание таблиц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sql/02_seed.sql — тестовые данные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sql/03_queries.sql — демонстрационные выборки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reports/ — четыре отчета по этапам проекта</a:t>
            </a:r>
            <a:endParaRPr lang="ru-RU" sz="2100">
              <a:solidFill>
                <a:srgbClr val="1D273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Структура базы данных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650000" y="1450000"/>
          <a:ext cx="3200000" cy="3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Справочники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event_category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ticket_status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order_status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payment_method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Они хранят типы и статусы, чтобы не дублировать текстовые значения в рабочих таблицах.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4500000" y="1450000"/>
          <a:ext cx="3200000" cy="3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Основные сущности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organizer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venue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app_user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event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ticket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Эти таблицы описывают участников процесса и сами мероприятия.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8350000" y="1450000"/>
          <a:ext cx="3200000" cy="3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Документы и операции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customer_order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order_item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payment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Они фиксируют факт покупки, состав заказа и успешную оплату.</a:t>
            </a:r>
            <a:endParaRPr lang="ru-RU" sz="2100">
              <a:solidFill>
                <a:srgbClr val="1D273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Связи и ограничения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700000" y="1500000"/>
          <a:ext cx="4900000" cy="37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Основные связи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одна категория соответствует многим мероприятиям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один организатор проводит несколько мероприятий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одна площадка принимает несколько событий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одно мероприятие содержит много билетов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один пользователь может создать несколько заказов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один заказ содержит несколько позиций заказа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6400000" y="1500000"/>
          <a:ext cx="4500000" cy="17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Ограничения целостности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первичные ключи во всех таблицах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внешние ключи между связанными сущностями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проверка положительной стоимости и вместимости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уникальность email, телефона, ИНН и места в рамках одного события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6400000" y="3450000"/>
          <a:ext cx="4500000" cy="1550000"/>
        </a:xfrm>
        <p:spPr>
          <a:solidFill>
            <a:srgbClr val="E7D7C1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Нормализация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Схема приведена к 3НФ: справочники вынесены отдельно, дублирование сведений минимизировано, обновление данных не приводит к противоречиям.</a:t>
            </a:r>
            <a:endParaRPr lang="ru-RU" sz="2100">
              <a:solidFill>
                <a:srgbClr val="1D273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Тестовые данные и запросы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750000" y="1400000"/>
          <a:ext cx="3100000" cy="1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Тестовые данные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3 категории мероприятий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2 организатора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2 площадки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3 пользователя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3 мероприятия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7 билетов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3 заказа и 2 оплаты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4200000" y="1400000"/>
          <a:ext cx="3300000" cy="1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Примеры событий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Весенний джазовый вечер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Современная драма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Лекция по управлению проектами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Это делает демонстрацию понятной и близкой к реальному сервису.</a:t>
            </a:r>
            <a:endParaRPr lang="ru-RU" sz="20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7800000" y="1400000"/>
          <a:ext cx="3550000" cy="18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Демонстрационные запросы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список мероприятий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число проданных билетов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выручка по заказам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свободные билеты</a:t>
            </a:r>
            <a:endParaRPr lang="ru-RU" sz="2000">
              <a:solidFill>
                <a:srgbClr val="1D2730"/>
              </a:solidFill>
            </a:endParaRPr>
          </a:p>
          <a:p>
            <a:pPr algn="l"/>
            <a:r>
              <a:rPr lang="ru-RU" sz="20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• итоговая выручка по мероприятиям</a:t>
            </a:r>
            <a:endParaRPr lang="ru-RU" sz="2000">
              <a:solidFill>
                <a:srgbClr val="1D2730"/>
              </a:solidFill>
            </a:endParaRPr>
          </a:p>
        </p:txBody>
      </p:sp>
      <p:sp>
        <p:nvSpPr>
          <p:cNvPr id="9" name="BoxText 9"/>
          <p:cNvSpPr txBox="1"/>
          <p:nvPr/>
        </p:nvSpPr>
        <a:xfrm>
          <a:off x="900000" y="3700000"/>
          <a:ext cx="9900000" cy="1500000"/>
        </a:xfrm>
        <p:spPr>
          <a:solidFill>
            <a:srgbClr val="254C6B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Практический эффект</a:t>
            </a:r>
            <a:endParaRPr lang="ru-RU" sz="2200">
              <a:solidFill>
                <a:srgbClr val="FFFFFF"/>
              </a:solidFill>
            </a:endParaRPr>
          </a:p>
          <a:p>
            <a:pPr algn="l"/>
            <a:r>
              <a:rPr lang="ru-RU" sz="2200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Запросы показывают, что база не только хранит данные, но и позволяет анализировать продажи, загрузку мероприятий и финансовые показатели.</a:t>
            </a:r>
            <a:endParaRPr lang="ru-RU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Запуск проекта на MacBook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650000" y="1400000"/>
          <a:ext cx="5300000" cy="41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Команды для демонстрации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cd "/Users/lolitamagomedova/Documents/New project/final_db_project"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--version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compose version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compose up -d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ps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exec -it trpp_final_postgres psql -U postgres -d event_ticketing_db</a:t>
            </a:r>
            <a:endParaRPr lang="ru-RU" sz="18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6300000" y="1400000"/>
          <a:ext cx="5000000" cy="41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Что показать внутри psql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\dt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SELECT * FROM event;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SELECT * FROM ticket;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SELECT * FROM customer_order;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Выполнение всех запросов сразу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exec -i trpp_final_postgres psql -U postgres -d event_ticketing_db &lt; sql/03_queries.sql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/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Остановка</a:t>
            </a:r>
            <a:endParaRPr lang="ru-RU" sz="1800">
              <a:solidFill>
                <a:srgbClr val="1D2730"/>
              </a:solidFill>
            </a:endParaRPr>
          </a:p>
          <a:p>
            <a:pPr algn="l"/>
            <a:r>
              <a:rPr lang="ru-RU" sz="18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docker compose down</a:t>
            </a:r>
            <a:endParaRPr lang="ru-RU" sz="1800">
              <a:solidFill>
                <a:srgbClr val="1D273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bar"/>
          <p:cNvSpPr txBox="1"/>
          <p:nvPr/>
        </p:nvSpPr>
        <a:xfrm>
          <a:off x="0" y="0"/>
          <a:ext cx="12192000" cy="850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lide title"/>
          <p:cNvSpPr txBox="1"/>
          <p:nvPr/>
        </p:nvSpPr>
        <a:xfrm>
          <a:off x="650000" y="130000"/>
          <a:ext cx="9000000" cy="5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6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Результаты проекта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Accent bar"/>
          <p:cNvSpPr txBox="1"/>
          <p:nvPr/>
        </p:nvSpPr>
        <a:xfrm>
          <a:off x="10750000" y="0"/>
          <a:ext cx="1440000" cy="850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Text 6"/>
          <p:cNvSpPr txBox="1"/>
          <p:nvPr/>
        </p:nvSpPr>
        <a:xfrm>
          <a:off x="700000" y="1500000"/>
          <a:ext cx="3200000" cy="15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Что реализовано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Полная структура базы данных, ограничения целостности, тестовые данные, SQL-запросы и документация по запуску.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7" name="BoxText 7"/>
          <p:cNvSpPr txBox="1"/>
          <p:nvPr/>
        </p:nvSpPr>
        <a:xfrm>
          <a:off x="4500000" y="1500000"/>
          <a:ext cx="3200000" cy="15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Преимущества решения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Простое развертывание, понятная схема, возможность расширения и наглядность для учебной защиты.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8" name="BoxText 8"/>
          <p:cNvSpPr txBox="1"/>
          <p:nvPr/>
        </p:nvSpPr>
        <a:xfrm>
          <a:off x="8300000" y="1500000"/>
          <a:ext cx="3200000" cy="1500000"/>
        </a:xfrm>
        <p:spPr>
          <a:solidFill>
            <a:srgbClr val="FFFFFF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Возможности развития</a:t>
            </a:r>
            <a:endParaRPr lang="ru-RU" sz="2100">
              <a:solidFill>
                <a:srgbClr val="1D2730"/>
              </a:solidFill>
            </a:endParaRPr>
          </a:p>
          <a:p>
            <a:pPr algn="l"/>
            <a:r>
              <a:rPr lang="ru-RU" sz="2100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Веб-интерфейс, возвраты билетов, роли пользователей, история операций, интеграция онлайн-оплаты.</a:t>
            </a:r>
            <a:endParaRPr lang="ru-RU" sz="2100">
              <a:solidFill>
                <a:srgbClr val="1D2730"/>
              </a:solidFill>
            </a:endParaRPr>
          </a:p>
        </p:txBody>
      </p:sp>
      <p:sp>
        <p:nvSpPr>
          <p:cNvPr id="9" name="BoxText 9"/>
          <p:cNvSpPr txBox="1"/>
          <p:nvPr/>
        </p:nvSpPr>
        <a:xfrm>
          <a:off x="1500000" y="3700000"/>
          <a:ext cx="9200000" cy="1400000"/>
        </a:xfrm>
        <p:spPr>
          <a:solidFill>
            <a:srgbClr val="5B8C5A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4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Итог</a:t>
            </a:r>
            <a:endParaRPr lang="ru-RU" sz="2400">
              <a:solidFill>
                <a:srgbClr val="FFFFFF"/>
              </a:solidFill>
            </a:endParaRPr>
          </a:p>
          <a:p>
            <a:pPr algn="l"/>
            <a:r>
              <a:rPr lang="ru-RU" sz="24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Цель проекта достигнута: спроектирована и подготовлена к демонстрации реляционная база данных для сервиса продажи билетов на мероприятия.</a:t>
            </a:r>
            <a:endParaRPr lang="ru-RU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a:xfrm>
          <a:off x="0" y="0"/>
          <a:ext cx="12192000" cy="6858000"/>
        </a:xfrm>
        <p:spPr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 txBox="1"/>
          <p:nvPr/>
        </p:nvSpPr>
        <a:xfrm>
          <a:off x="0" y="5500000"/>
          <a:ext cx="12192000" cy="1358000"/>
        </a:xfrm>
        <p:spPr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a:xfrm>
          <a:off x="900000" y="1200000"/>
          <a:ext cx="7000000" cy="10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3000" b="1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Спасибо за внимание</a:t>
            </a:r>
            <a:endParaRPr lang="ru-RU" sz="3000">
              <a:solidFill>
                <a:srgbClr val="FFFFFF"/>
              </a:solidFill>
            </a:endParaRPr>
          </a:p>
        </p:txBody>
      </p:sp>
      <p:sp>
        <p:nvSpPr>
          <p:cNvPr id="5" name="Text 5"/>
          <p:cNvSpPr txBox="1"/>
          <p:nvPr/>
        </p:nvSpPr>
        <a:xfrm>
          <a:off x="900000" y="2450000"/>
          <a:ext cx="8000000" cy="80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100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Готовы ответить на вопросы по структуре БД, SQL-запросам и запуску проекта</a:t>
            </a:r>
            <a:endParaRPr lang="ru-RU" sz="2100">
              <a:solidFill>
                <a:srgbClr val="FFFFFF"/>
              </a:solidFill>
            </a:endParaRPr>
          </a:p>
        </p:txBody>
      </p:sp>
      <p:sp>
        <p:nvSpPr>
          <p:cNvPr id="6" name="BoxText 6"/>
          <p:cNvSpPr txBox="1"/>
          <p:nvPr/>
        </p:nvSpPr>
        <a:xfrm>
          <a:off x="8200000" y="1200000"/>
          <a:ext cx="3000000" cy="1900000"/>
        </a:xfrm>
        <p:spPr>
          <a:solidFill>
            <a:srgbClr val="E7D7C1"/>
          </a:solidFill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2200" b="1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Авторы</a:t>
            </a:r>
            <a:endParaRPr lang="ru-RU" sz="2200">
              <a:solidFill>
                <a:srgbClr val="1D2730"/>
              </a:solidFill>
            </a:endParaRPr>
          </a:p>
          <a:p>
            <a:pPr algn="l"/>
            <a:r>
              <a:rPr lang="ru-RU" sz="2200" b="1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Магомедова Лолита</a:t>
            </a:r>
            <a:endParaRPr lang="ru-RU" sz="2200">
              <a:solidFill>
                <a:srgbClr val="1D2730"/>
              </a:solidFill>
            </a:endParaRPr>
          </a:p>
          <a:p>
            <a:pPr algn="l"/>
            <a:r>
              <a:rPr lang="ru-RU" sz="2200" b="1" dirty="0" smtClean="0">
                <a:solidFill>
                  <a:srgbClr val="1D2730"/>
                </a:solidFill>
                <a:latin typeface="Aptos"/>
                <a:ea typeface="Aptos"/>
                <a:cs typeface="Aptos"/>
              </a:rPr>
              <a:t>Багирян Марьям</a:t>
            </a:r>
            <a:endParaRPr lang="ru-RU" sz="2200">
              <a:solidFill>
                <a:srgbClr val="1D2730"/>
              </a:solidFill>
            </a:endParaRPr>
          </a:p>
        </p:txBody>
      </p:sp>
      <p:sp>
        <p:nvSpPr>
          <p:cNvPr id="7" name="Text 7"/>
          <p:cNvSpPr txBox="1"/>
          <p:nvPr/>
        </p:nvSpPr>
        <a:xfrm>
          <a:off x="900000" y="5850000"/>
          <a:ext cx="5000000" cy="350000"/>
        </a:xfrm>
        <p:spPr>
          <a:noFill/>
          <a:ln>
            <a:noFill/>
          </a:ln>
          <a:prstGeom prst="rect">
            <a:avLst/>
          </a:prstGeom>
        </p:spPr>
        <p:txBody>
          <a:bodyPr wrap="square" lIns="180000" tIns="120000" rIns="180000" bIns="120000" anchor="ctr"/>
          <a:lstStyle/>
          <a:p>
            <a:pPr algn="l"/>
            <a:r>
              <a:rPr lang="ru-RU" sz="1800" dirty="0" smtClean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Итоговый проект ТРПП • 2026</a:t>
            </a:r>
            <a:endParaRPr lang="ru-RU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7324D"/>
      </a:dk2>
      <a:lt2>
        <a:srgbClr val="F6F1E8"/>
      </a:lt2>
      <a:accent1>
        <a:srgbClr val="C86B3C"/>
      </a:accent1>
      <a:accent2>
        <a:srgbClr val="2E6F6D"/>
      </a:accent2>
      <a:accent3>
        <a:srgbClr val="254C6B"/>
      </a:accent3>
      <a:accent4>
        <a:srgbClr val="E7D7C1"/>
      </a:accent4>
      <a:accent5>
        <a:srgbClr val="5B8C5A"/>
      </a:accent5>
      <a:accent6>
        <a:srgbClr val="5E6A73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05000"/>
                <a:lumOff val="11000"/>
                <a:lumMod val="105000"/>
              </a:schemeClr>
            </a:gs>
            <a:gs pos="50000">
              <a:schemeClr val="phClr">
                <a:satMod val="103000"/>
                <a:lumOff val="10200"/>
                <a:lumMod val="103000"/>
              </a:schemeClr>
            </a:gs>
            <a:gs pos="100000">
              <a:schemeClr val="phClr">
                <a:satMod val="109000"/>
                <a:lumOff val="5000"/>
                <a:lum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Off val="10200"/>
                <a:lumMod val="103000"/>
              </a:schemeClr>
            </a:gs>
            <a:gs pos="50000">
              <a:schemeClr val="phClr">
                <a:satMod val="110000"/>
                <a:lumOff val="5000"/>
                <a:lumMod val="100000"/>
              </a:schemeClr>
            </a:gs>
            <a:gs pos="100000">
              <a:schemeClr val="phClr">
                <a:satMod val="120000"/>
                <a:lumOff val="15000"/>
                <a:lumMod val="99000"/>
              </a:schemeClr>
            </a:gs>
          </a:gsLst>
          <a:path path="circle">
            <a:fillToRect l="50000" t="-80000" r="50000" b="180000"/>
          </a:path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Итоговая презентация ТРПП</dc:title>
  <dc:subject>База данных для сервиса продажи билетов</dc:subject>
  <dc:creator>Codex</dc:creator>
  <cp:lastModifiedBy>Codex</cp:lastModifiedBy>
  <dcterms:created xsi:type="dcterms:W3CDTF">2026-05-12T09:51:49Z</dcterms:created>
  <dcterms:modified xsi:type="dcterms:W3CDTF">2026-05-12T09:51:49Z</dcterms:modified>
</cp:coreProperties>
</file>