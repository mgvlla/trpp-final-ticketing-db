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ideView">
  <p:normalViewPr horizBarState="restored" vertBarState="restored">
    <p:restoredLeft sz="15620" autoAdjust="0"/>
    <p:restoredTop sz="94660" autoAdjust="0"/>
  </p:normalViewPr>
  <p:slideViewPr/>
  <p:notesTextViewPr/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4300000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300000" y="0"/>
            <a:ext cx="220000" cy="6858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00000" y="900000"/>
            <a:ext cx="320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проект</a:t>
            </a:r>
            <a:endParaRPr lang="ru-RU" sz="2800"/>
          </a:p>
          <a:p>
            <a:pPr algn="l"/>
            <a:r>
              <a:rPr lang="ru-RU"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дисциплине ТРПП</a:t>
            </a:r>
            <a:endParaRPr lang="ru-RU" sz="2800"/>
          </a:p>
        </p:txBody>
      </p:sp>
      <p:sp>
        <p:nvSpPr>
          <p:cNvPr id="6" name="Text 6"/>
          <p:cNvSpPr txBox="1"/>
          <p:nvPr/>
        </p:nvSpPr>
        <p:spPr>
          <a:xfrm>
            <a:off x="700000" y="2700000"/>
            <a:ext cx="290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Тема проекта:</a:t>
            </a:r>
            <a:endParaRPr lang="ru-RU" sz="2200"/>
          </a:p>
          <a:p>
            <a:pPr algn="l"/>
            <a:r>
              <a:rPr lang="ru-RU" sz="220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Разработка реляционной базы данных для продажи билетов на мероприятия</a:t>
            </a:r>
            <a:endParaRPr lang="ru-RU" sz="2200"/>
          </a:p>
        </p:txBody>
      </p:sp>
      <p:sp>
        <p:nvSpPr>
          <p:cNvPr id="7" name="Box 7"/>
          <p:cNvSpPr txBox="1"/>
          <p:nvPr/>
        </p:nvSpPr>
        <p:spPr>
          <a:xfrm>
            <a:off x="5000000" y="900000"/>
            <a:ext cx="6000000" cy="1200000"/>
          </a:xfrm>
          <a:prstGeom prst="rect">
            <a:avLst/>
          </a:prstGeom>
          <a:solidFill>
            <a:srgbClr val="E7D7C1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400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Авторы</a:t>
            </a:r>
            <a:endParaRPr lang="ru-RU" sz="2400"/>
          </a:p>
          <a:p>
            <a:pPr algn="l"/>
            <a:r>
              <a:rPr lang="ru-RU" sz="2400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Магомедова Лолита</a:t>
            </a:r>
            <a:endParaRPr lang="ru-RU" sz="2400"/>
          </a:p>
          <a:p>
            <a:pPr algn="l"/>
            <a:r>
              <a:rPr lang="ru-RU" sz="2400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Багирян Марьям</a:t>
            </a:r>
            <a:endParaRPr lang="ru-RU" sz="2400"/>
          </a:p>
        </p:txBody>
      </p:sp>
      <p:sp>
        <p:nvSpPr>
          <p:cNvPr id="8" name="Box 8"/>
          <p:cNvSpPr txBox="1"/>
          <p:nvPr/>
        </p:nvSpPr>
        <p:spPr>
          <a:xfrm>
            <a:off x="5000000" y="2500000"/>
            <a:ext cx="60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СУБД: PostgreSQL 16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Развертывание: Docker Desktop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Платформа: macOS</a:t>
            </a:r>
            <a:endParaRPr lang="ru-RU" sz="2000"/>
          </a:p>
        </p:txBody>
      </p:sp>
      <p:sp>
        <p:nvSpPr>
          <p:cNvPr id="9" name="Text 9"/>
          <p:cNvSpPr txBox="1"/>
          <p:nvPr/>
        </p:nvSpPr>
        <p:spPr>
          <a:xfrm>
            <a:off x="5000000" y="540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1800">
                <a:solidFill>
                  <a:srgbClr val="5E6A73"/>
                </a:solidFill>
                <a:latin typeface="Arial"/>
                <a:ea typeface="Arial"/>
                <a:cs typeface="Arial"/>
              </a:rPr>
              <a:t>Москва, 2026</a:t>
            </a:r>
            <a:endParaRPr lang="ru-RU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Актуальность, цель и задачи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 6"/>
          <p:cNvSpPr txBox="1"/>
          <p:nvPr/>
        </p:nvSpPr>
        <p:spPr>
          <a:xfrm>
            <a:off x="650000" y="1200000"/>
            <a:ext cx="3300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Актуальность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Автоматизация продаж билетов нужна концертным площадкам, театрам, лекториям и организаторам событий. База данных позволяет хранить заказы, билеты, платежи и сведения о клиентах без потери целостности.</a:t>
            </a:r>
            <a:endParaRPr lang="ru-RU" sz="2000"/>
          </a:p>
        </p:txBody>
      </p:sp>
      <p:sp>
        <p:nvSpPr>
          <p:cNvPr id="7" name="Box 7"/>
          <p:cNvSpPr txBox="1"/>
          <p:nvPr/>
        </p:nvSpPr>
        <p:spPr>
          <a:xfrm>
            <a:off x="4200000" y="1200000"/>
            <a:ext cx="3300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Цель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Спроектировать и реализовать реляционную базу данных, которая хранит информацию о мероприятиях, пользователях, заказах, билетах и оплатах.</a:t>
            </a:r>
            <a:endParaRPr lang="ru-RU" sz="2000"/>
          </a:p>
        </p:txBody>
      </p:sp>
      <p:sp>
        <p:nvSpPr>
          <p:cNvPr id="8" name="Box 8"/>
          <p:cNvSpPr txBox="1"/>
          <p:nvPr/>
        </p:nvSpPr>
        <p:spPr>
          <a:xfrm>
            <a:off x="7750000" y="1200000"/>
            <a:ext cx="3400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Результат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Готовый проект запускается локально на MacBook через Docker и содержит SQL-скрипты, тестовые данные, запросы и отдельные отчеты.</a:t>
            </a:r>
            <a:endParaRPr lang="ru-RU" sz="2000"/>
          </a:p>
        </p:txBody>
      </p:sp>
      <p:sp>
        <p:nvSpPr>
          <p:cNvPr id="9" name="Box 9"/>
          <p:cNvSpPr txBox="1"/>
          <p:nvPr/>
        </p:nvSpPr>
        <p:spPr>
          <a:xfrm>
            <a:off x="650000" y="3450000"/>
            <a:ext cx="10500000" cy="2200000"/>
          </a:xfrm>
          <a:prstGeom prst="rect">
            <a:avLst/>
          </a:prstGeom>
          <a:solidFill>
            <a:srgbClr val="E7D7C1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Ключевые задачи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определить предметную область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выделить сущности и связи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реализовать схему PostgreSQL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наполнить базу тестовыми данными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подготовить демонстрационные SQL-запросы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описать запуск и демонстрацию проекта на защите</a:t>
            </a:r>
            <a:endParaRPr lang="ru-RU"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Предметная область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 6"/>
          <p:cNvSpPr txBox="1"/>
          <p:nvPr/>
        </p:nvSpPr>
        <p:spPr>
          <a:xfrm>
            <a:off x="700000" y="1400000"/>
            <a:ext cx="270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Кто работает с системой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организаторы мероприятий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менеджеры площадок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покупатели билетов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администратор сервиса</a:t>
            </a:r>
            <a:endParaRPr lang="ru-RU" sz="2100"/>
          </a:p>
        </p:txBody>
      </p:sp>
      <p:sp>
        <p:nvSpPr>
          <p:cNvPr id="7" name="Box 7"/>
          <p:cNvSpPr txBox="1"/>
          <p:nvPr/>
        </p:nvSpPr>
        <p:spPr>
          <a:xfrm>
            <a:off x="3650000" y="1400000"/>
            <a:ext cx="280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Что хранится в базе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категории событий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организаторы и площадки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мероприятия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пользователи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билеты и статусы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заказы и оплаты</a:t>
            </a:r>
            <a:endParaRPr lang="ru-RU" sz="2100"/>
          </a:p>
        </p:txBody>
      </p:sp>
      <p:sp>
        <p:nvSpPr>
          <p:cNvPr id="8" name="Box 8"/>
          <p:cNvSpPr txBox="1"/>
          <p:nvPr/>
        </p:nvSpPr>
        <p:spPr>
          <a:xfrm>
            <a:off x="6700000" y="1400000"/>
            <a:ext cx="450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Бизнес-процесс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1. Организатор создает мероприятие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2. Для события формируются билеты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3. Пользователь оформляет заказ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4. Система фиксирует оплату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5. Запросы показывают свободные места, продажи и выручку</a:t>
            </a:r>
            <a:endParaRPr lang="ru-RU"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Архитектура решения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 6"/>
          <p:cNvSpPr txBox="1"/>
          <p:nvPr/>
        </p:nvSpPr>
        <p:spPr>
          <a:xfrm>
            <a:off x="700000" y="1600000"/>
            <a:ext cx="2300000" cy="130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macOS</a:t>
            </a:r>
            <a:endParaRPr lang="ru-RU" sz="2200"/>
          </a:p>
          <a:p>
            <a:pPr algn="l"/>
            <a:r>
              <a:rPr lang="ru-R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Рабочая среда студента</a:t>
            </a:r>
            <a:endParaRPr lang="ru-RU" sz="2200"/>
          </a:p>
        </p:txBody>
      </p:sp>
      <p:sp>
        <p:nvSpPr>
          <p:cNvPr id="7" name="Text 7"/>
          <p:cNvSpPr txBox="1"/>
          <p:nvPr/>
        </p:nvSpPr>
        <p:spPr>
          <a:xfrm>
            <a:off x="3150000" y="205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c"/>
            <a:r>
              <a:rPr lang="ru-RU" sz="2800" b="1">
                <a:solidFill>
                  <a:srgbClr val="C86B3C"/>
                </a:solidFill>
                <a:latin typeface="Arial"/>
                <a:ea typeface="Arial"/>
                <a:cs typeface="Arial"/>
              </a:rPr>
              <a:t>→</a:t>
            </a:r>
            <a:endParaRPr lang="ru-RU" sz="2800"/>
          </a:p>
        </p:txBody>
      </p:sp>
      <p:sp>
        <p:nvSpPr>
          <p:cNvPr id="8" name="Box 8"/>
          <p:cNvSpPr txBox="1"/>
          <p:nvPr/>
        </p:nvSpPr>
        <p:spPr>
          <a:xfrm>
            <a:off x="3800000" y="1600000"/>
            <a:ext cx="2400000" cy="1300000"/>
          </a:xfrm>
          <a:prstGeom prst="rect">
            <a:avLst/>
          </a:prstGeom>
          <a:solidFill>
            <a:srgbClr val="2E6F6D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 Desktop</a:t>
            </a:r>
            <a:endParaRPr lang="ru-RU" sz="2200"/>
          </a:p>
          <a:p>
            <a:pPr algn="l"/>
            <a:r>
              <a:rPr lang="ru-R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Запускает контейнер с PostgreSQL</a:t>
            </a:r>
            <a:endParaRPr lang="ru-RU" sz="2200"/>
          </a:p>
        </p:txBody>
      </p:sp>
      <p:sp>
        <p:nvSpPr>
          <p:cNvPr id="9" name="Text 9"/>
          <p:cNvSpPr txBox="1"/>
          <p:nvPr/>
        </p:nvSpPr>
        <p:spPr>
          <a:xfrm>
            <a:off x="6300000" y="205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c"/>
            <a:r>
              <a:rPr lang="ru-RU" sz="2800" b="1">
                <a:solidFill>
                  <a:srgbClr val="C86B3C"/>
                </a:solidFill>
                <a:latin typeface="Arial"/>
                <a:ea typeface="Arial"/>
                <a:cs typeface="Arial"/>
              </a:rPr>
              <a:t>→</a:t>
            </a:r>
            <a:endParaRPr lang="ru-RU" sz="2800"/>
          </a:p>
        </p:txBody>
      </p:sp>
      <p:sp>
        <p:nvSpPr>
          <p:cNvPr id="10" name="Box 10"/>
          <p:cNvSpPr txBox="1"/>
          <p:nvPr/>
        </p:nvSpPr>
        <p:spPr>
          <a:xfrm>
            <a:off x="7000000" y="1600000"/>
            <a:ext cx="2400000" cy="1300000"/>
          </a:xfrm>
          <a:prstGeom prst="rect">
            <a:avLst/>
          </a:prstGeom>
          <a:solidFill>
            <a:srgbClr val="254C6B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 16</a:t>
            </a:r>
            <a:endParaRPr lang="ru-RU" sz="2200"/>
          </a:p>
          <a:p>
            <a:pPr algn="l"/>
            <a:r>
              <a:rPr lang="ru-R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Хранение структуры и данных</a:t>
            </a:r>
            <a:endParaRPr lang="ru-RU" sz="2200"/>
          </a:p>
        </p:txBody>
      </p:sp>
      <p:sp>
        <p:nvSpPr>
          <p:cNvPr id="11" name="Text 11"/>
          <p:cNvSpPr txBox="1"/>
          <p:nvPr/>
        </p:nvSpPr>
        <p:spPr>
          <a:xfrm>
            <a:off x="9500000" y="205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c"/>
            <a:r>
              <a:rPr lang="ru-RU" sz="2800" b="1">
                <a:solidFill>
                  <a:srgbClr val="C86B3C"/>
                </a:solidFill>
                <a:latin typeface="Arial"/>
                <a:ea typeface="Arial"/>
                <a:cs typeface="Arial"/>
              </a:rPr>
              <a:t>→</a:t>
            </a:r>
            <a:endParaRPr lang="ru-RU" sz="2800"/>
          </a:p>
        </p:txBody>
      </p:sp>
      <p:sp>
        <p:nvSpPr>
          <p:cNvPr id="12" name="Box 12"/>
          <p:cNvSpPr txBox="1"/>
          <p:nvPr/>
        </p:nvSpPr>
        <p:spPr>
          <a:xfrm>
            <a:off x="10200000" y="1600000"/>
            <a:ext cx="1300000" cy="130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</a:t>
            </a:r>
            <a:endParaRPr lang="ru-RU" sz="2200"/>
          </a:p>
          <a:p>
            <a:pPr algn="l"/>
            <a:r>
              <a:rPr lang="ru-RU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Запросы</a:t>
            </a:r>
            <a:endParaRPr lang="ru-RU" sz="2200"/>
          </a:p>
        </p:txBody>
      </p:sp>
      <p:sp>
        <p:nvSpPr>
          <p:cNvPr id="13" name="Box 13"/>
          <p:cNvSpPr txBox="1"/>
          <p:nvPr/>
        </p:nvSpPr>
        <p:spPr>
          <a:xfrm>
            <a:off x="900000" y="3800000"/>
            <a:ext cx="9900000" cy="1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Файлы проекта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docker-compose.yml — конфигурация контейнера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sql/01_schema.sql — создание таблиц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sql/02_seed.sql — тестовые данные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sql/03_queries.sql — демонстрационные выборки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reports/ — четыре отчета по этапам проекта</a:t>
            </a:r>
            <a:endParaRPr lang="ru-RU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Структура базы данных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 6"/>
          <p:cNvSpPr txBox="1"/>
          <p:nvPr/>
        </p:nvSpPr>
        <p:spPr>
          <a:xfrm>
            <a:off x="650000" y="1450000"/>
            <a:ext cx="3200000" cy="3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Справочники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event_category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ticket_status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order_status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payment_method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/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Они хранят типы и статусы, чтобы не дублировать текстовые значения в рабочих таблицах.</a:t>
            </a:r>
            <a:endParaRPr lang="ru-RU" sz="2100"/>
          </a:p>
        </p:txBody>
      </p:sp>
      <p:sp>
        <p:nvSpPr>
          <p:cNvPr id="7" name="Box 7"/>
          <p:cNvSpPr txBox="1"/>
          <p:nvPr/>
        </p:nvSpPr>
        <p:spPr>
          <a:xfrm>
            <a:off x="4500000" y="1450000"/>
            <a:ext cx="3200000" cy="3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Основные сущности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organizer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venue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app_user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event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ticket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/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Эти таблицы описывают участников процесса и сами мероприятия.</a:t>
            </a:r>
            <a:endParaRPr lang="ru-RU" sz="2100"/>
          </a:p>
        </p:txBody>
      </p:sp>
      <p:sp>
        <p:nvSpPr>
          <p:cNvPr id="8" name="Box 8"/>
          <p:cNvSpPr txBox="1"/>
          <p:nvPr/>
        </p:nvSpPr>
        <p:spPr>
          <a:xfrm>
            <a:off x="8350000" y="1450000"/>
            <a:ext cx="3200000" cy="3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Документы и операции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customer_order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order_item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payment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/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Они фиксируют факт покупки, состав заказа и успешную оплату.</a:t>
            </a:r>
            <a:endParaRPr lang="ru-RU"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Связи и ограничения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 6"/>
          <p:cNvSpPr txBox="1"/>
          <p:nvPr/>
        </p:nvSpPr>
        <p:spPr>
          <a:xfrm>
            <a:off x="700000" y="1500000"/>
            <a:ext cx="4900000" cy="3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Основные связи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одна категория соответствует многим мероприятиям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один организатор проводит несколько мероприятий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одна площадка принимает несколько событий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одно мероприятие содержит много билетов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один пользователь может создать несколько заказов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один заказ содержит несколько позиций заказа</a:t>
            </a:r>
            <a:endParaRPr lang="ru-RU" sz="2100"/>
          </a:p>
        </p:txBody>
      </p:sp>
      <p:sp>
        <p:nvSpPr>
          <p:cNvPr id="7" name="Box 7"/>
          <p:cNvSpPr txBox="1"/>
          <p:nvPr/>
        </p:nvSpPr>
        <p:spPr>
          <a:xfrm>
            <a:off x="6400000" y="1500000"/>
            <a:ext cx="4500000" cy="1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Ограничения целостности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первичные ключи во всех таблицах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внешние ключи между связанными сущностями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проверка положительной стоимости и вместимости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уникальность email, телефона, ИНН и места в рамках одного события</a:t>
            </a:r>
            <a:endParaRPr lang="ru-RU" sz="2100"/>
          </a:p>
        </p:txBody>
      </p:sp>
      <p:sp>
        <p:nvSpPr>
          <p:cNvPr id="8" name="Box 8"/>
          <p:cNvSpPr txBox="1"/>
          <p:nvPr/>
        </p:nvSpPr>
        <p:spPr>
          <a:xfrm>
            <a:off x="6400000" y="3450000"/>
            <a:ext cx="4500000" cy="1550000"/>
          </a:xfrm>
          <a:prstGeom prst="rect">
            <a:avLst/>
          </a:prstGeom>
          <a:solidFill>
            <a:srgbClr val="E7D7C1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Нормализация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Схема приведена к 3НФ: справочники вынесены отдельно, дублирование сведений минимизировано, обновление данных не приводит к противоречиям.</a:t>
            </a:r>
            <a:endParaRPr lang="ru-RU"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данные и запросы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 6"/>
          <p:cNvSpPr txBox="1"/>
          <p:nvPr/>
        </p:nvSpPr>
        <p:spPr>
          <a:xfrm>
            <a:off x="750000" y="1400000"/>
            <a:ext cx="3100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Тестовые данные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3 категории мероприятий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2 организатора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2 площадки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3 пользователя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3 мероприятия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7 билетов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3 заказа и 2 оплаты</a:t>
            </a:r>
            <a:endParaRPr lang="ru-RU" sz="2100"/>
          </a:p>
        </p:txBody>
      </p:sp>
      <p:sp>
        <p:nvSpPr>
          <p:cNvPr id="7" name="Box 7"/>
          <p:cNvSpPr txBox="1"/>
          <p:nvPr/>
        </p:nvSpPr>
        <p:spPr>
          <a:xfrm>
            <a:off x="4200000" y="1400000"/>
            <a:ext cx="3300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Примеры событий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Весенний джазовый вечер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Современная драма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Лекция по управлению проектами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/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Это делает демонстрацию понятной и близкой к реальному сервису.</a:t>
            </a:r>
            <a:endParaRPr lang="ru-RU" sz="2000"/>
          </a:p>
        </p:txBody>
      </p:sp>
      <p:sp>
        <p:nvSpPr>
          <p:cNvPr id="8" name="Box 8"/>
          <p:cNvSpPr txBox="1"/>
          <p:nvPr/>
        </p:nvSpPr>
        <p:spPr>
          <a:xfrm>
            <a:off x="7800000" y="1400000"/>
            <a:ext cx="3550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Демонстрационные запросы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список мероприятий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число проданных билетов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выручка по заказам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свободные билеты</a:t>
            </a:r>
            <a:endParaRPr lang="ru-RU" sz="2000"/>
          </a:p>
          <a:p>
            <a:pPr algn="l"/>
            <a:r>
              <a:rPr lang="ru-RU" sz="2000">
                <a:solidFill>
                  <a:srgbClr val="1D2730"/>
                </a:solidFill>
                <a:latin typeface="Arial"/>
                <a:ea typeface="Arial"/>
                <a:cs typeface="Arial"/>
              </a:rPr>
              <a:t>итоговая выручка по мероприятиям</a:t>
            </a:r>
            <a:endParaRPr lang="ru-RU" sz="2000"/>
          </a:p>
        </p:txBody>
      </p:sp>
      <p:sp>
        <p:nvSpPr>
          <p:cNvPr id="9" name="Box 9"/>
          <p:cNvSpPr txBox="1"/>
          <p:nvPr/>
        </p:nvSpPr>
        <p:spPr>
          <a:xfrm>
            <a:off x="900000" y="3700000"/>
            <a:ext cx="9900000" cy="1500000"/>
          </a:xfrm>
          <a:prstGeom prst="rect">
            <a:avLst/>
          </a:prstGeom>
          <a:solidFill>
            <a:srgbClr val="254C6B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Практический эффект</a:t>
            </a:r>
            <a:endParaRPr lang="ru-RU" sz="2200"/>
          </a:p>
          <a:p>
            <a:pPr algn="l"/>
            <a:r>
              <a:rPr lang="ru-RU" sz="220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Запросы показывают, что база не только хранит данные, но и позволяет анализировать продажи, загрузку мероприятий и финансовые показатели.</a:t>
            </a:r>
            <a:endParaRPr lang="ru-RU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Запуск проекта на MacBook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 6"/>
          <p:cNvSpPr txBox="1"/>
          <p:nvPr/>
        </p:nvSpPr>
        <p:spPr>
          <a:xfrm>
            <a:off x="650000" y="1400000"/>
            <a:ext cx="5300000" cy="4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Команды для демонстрации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cd "/Users/lolitamagomedova/Documents/New project/final_db_project"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/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 --version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 compose version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/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 compose up -d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/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 ps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/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 exec -it trpp_final_postgres psql -U postgres -d event_ticketing_db</a:t>
            </a:r>
            <a:endParaRPr lang="ru-RU" sz="1800"/>
          </a:p>
        </p:txBody>
      </p:sp>
      <p:sp>
        <p:nvSpPr>
          <p:cNvPr id="7" name="Box 7"/>
          <p:cNvSpPr txBox="1"/>
          <p:nvPr/>
        </p:nvSpPr>
        <p:spPr>
          <a:xfrm>
            <a:off x="6300000" y="1400000"/>
            <a:ext cx="5000000" cy="4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Что показать внутри psql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\dt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SELECT * FROM event;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SELECT * FROM ticket;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SELECT * FROM customer_order;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/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Выполнение всех запросов сразу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 exec -i trpp_final_postgres psql -U postgres -d event_ticketing_db &lt; sql/03_queries.sql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/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Остановка</a:t>
            </a:r>
            <a:endParaRPr lang="ru-RU" sz="1800"/>
          </a:p>
          <a:p>
            <a:pPr algn="l"/>
            <a:r>
              <a:rPr lang="ru-RU"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 compose down</a:t>
            </a:r>
            <a:endParaRPr lang="ru-RU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Результаты проекта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ox 6"/>
          <p:cNvSpPr txBox="1"/>
          <p:nvPr/>
        </p:nvSpPr>
        <p:spPr>
          <a:xfrm>
            <a:off x="700000" y="1500000"/>
            <a:ext cx="3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Что реализовано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Полная структура базы данных, ограничения целостности, тестовые данные, SQL-запросы и документация по запуску.</a:t>
            </a:r>
            <a:endParaRPr lang="ru-RU" sz="2100"/>
          </a:p>
        </p:txBody>
      </p:sp>
      <p:sp>
        <p:nvSpPr>
          <p:cNvPr id="7" name="Box 7"/>
          <p:cNvSpPr txBox="1"/>
          <p:nvPr/>
        </p:nvSpPr>
        <p:spPr>
          <a:xfrm>
            <a:off x="4500000" y="1500000"/>
            <a:ext cx="3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Преимущества решения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Простое развертывание, понятная схема, возможность расширения и наглядность для учебной защиты.</a:t>
            </a:r>
            <a:endParaRPr lang="ru-RU" sz="2100"/>
          </a:p>
        </p:txBody>
      </p:sp>
      <p:sp>
        <p:nvSpPr>
          <p:cNvPr id="8" name="Box 8"/>
          <p:cNvSpPr txBox="1"/>
          <p:nvPr/>
        </p:nvSpPr>
        <p:spPr>
          <a:xfrm>
            <a:off x="8300000" y="1500000"/>
            <a:ext cx="320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Возможности развития</a:t>
            </a:r>
            <a:endParaRPr lang="ru-RU" sz="2100"/>
          </a:p>
          <a:p>
            <a:pPr algn="l"/>
            <a:r>
              <a:rPr lang="ru-RU" sz="2100">
                <a:solidFill>
                  <a:srgbClr val="1D2730"/>
                </a:solidFill>
                <a:latin typeface="Arial"/>
                <a:ea typeface="Arial"/>
                <a:cs typeface="Arial"/>
              </a:rPr>
              <a:t>Веб-интерфейс, возвраты билетов, роли пользователей, история операций, интеграция онлайн-оплаты.</a:t>
            </a:r>
            <a:endParaRPr lang="ru-RU" sz="2100"/>
          </a:p>
        </p:txBody>
      </p:sp>
      <p:sp>
        <p:nvSpPr>
          <p:cNvPr id="9" name="Box 9"/>
          <p:cNvSpPr txBox="1"/>
          <p:nvPr/>
        </p:nvSpPr>
        <p:spPr>
          <a:xfrm>
            <a:off x="1500000" y="3700000"/>
            <a:ext cx="9200000" cy="140000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</a:t>
            </a:r>
            <a:endParaRPr lang="ru-RU" sz="2400"/>
          </a:p>
          <a:p>
            <a:pPr algn="l"/>
            <a:r>
              <a:rPr lang="ru-RU"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Цель проекта достигнута: спроектирована и подготовлена к демонстрации реляционная база данных для сервиса продажи билетов на мероприятия.</a:t>
            </a:r>
            <a:endParaRPr lang="ru-RU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5500000"/>
            <a:ext cx="12192000" cy="1358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900000" y="1200000"/>
            <a:ext cx="70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 за внимание</a:t>
            </a:r>
            <a:endParaRPr lang="ru-RU" sz="3000"/>
          </a:p>
        </p:txBody>
      </p:sp>
      <p:sp>
        <p:nvSpPr>
          <p:cNvPr id="5" name="Text 5"/>
          <p:cNvSpPr txBox="1"/>
          <p:nvPr/>
        </p:nvSpPr>
        <p:spPr>
          <a:xfrm>
            <a:off x="900000" y="2450000"/>
            <a:ext cx="80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Готовы ответить на вопросы по структуре БД, SQL-запросам и запуску проекта</a:t>
            </a:r>
            <a:endParaRPr lang="ru-RU" sz="2100"/>
          </a:p>
        </p:txBody>
      </p:sp>
      <p:sp>
        <p:nvSpPr>
          <p:cNvPr id="6" name="Box 6"/>
          <p:cNvSpPr txBox="1"/>
          <p:nvPr/>
        </p:nvSpPr>
        <p:spPr>
          <a:xfrm>
            <a:off x="8200000" y="1200000"/>
            <a:ext cx="3000000" cy="1900000"/>
          </a:xfrm>
          <a:prstGeom prst="rect">
            <a:avLst/>
          </a:prstGeom>
          <a:solidFill>
            <a:srgbClr val="E7D7C1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Авторы</a:t>
            </a:r>
            <a:endParaRPr lang="ru-RU" sz="2200"/>
          </a:p>
          <a:p>
            <a:pPr algn="l"/>
            <a:r>
              <a:rPr lang="ru-RU" sz="2200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Магомедова Лолита</a:t>
            </a:r>
            <a:endParaRPr lang="ru-RU" sz="2200"/>
          </a:p>
          <a:p>
            <a:pPr algn="l"/>
            <a:r>
              <a:rPr lang="ru-RU" sz="2200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Багирян Марьям</a:t>
            </a:r>
            <a:endParaRPr lang="ru-RU" sz="2200"/>
          </a:p>
        </p:txBody>
      </p:sp>
      <p:sp>
        <p:nvSpPr>
          <p:cNvPr id="7" name="Text 7"/>
          <p:cNvSpPr txBox="1"/>
          <p:nvPr/>
        </p:nvSpPr>
        <p:spPr>
          <a:xfrm>
            <a:off x="900000" y="58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проект ТРПП • 2026</a:t>
            </a:r>
            <a:endParaRPr lang="ru-RU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7324D"/>
      </a:dk2>
      <a:lt2>
        <a:srgbClr val="F6F1E8"/>
      </a:lt2>
      <a:accent1>
        <a:srgbClr val="C86B3C"/>
      </a:accent1>
      <a:accent2>
        <a:srgbClr val="2E6F6D"/>
      </a:accent2>
      <a:accent3>
        <a:srgbClr val="254C6B"/>
      </a:accent3>
      <a:accent4>
        <a:srgbClr val="E7D7C1"/>
      </a:accent4>
      <a:accent5>
        <a:srgbClr val="5B8C5A"/>
      </a:accent5>
      <a:accent6>
        <a:srgbClr val="5E6A73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Итоговая презентация ТРПП</dc:title>
  <dc:creator>Codex</dc:creator>
  <dcterms:created xsi:type="dcterms:W3CDTF">2026-05-12T09:59:47Z</dcterms:created>
  <dcterms:modified xsi:type="dcterms:W3CDTF">2026-05-12T09:59:47Z</dcterms:modified>
</cp:coreProperties>
</file>