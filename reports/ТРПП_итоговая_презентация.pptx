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6" r:id="rId7"/>
    <p:sldId id="267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01" d="100"/>
          <a:sy n="101" d="100"/>
        </p:scale>
        <p:origin x="154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-2900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3" name="Rect 3"/>
          <p:cNvSpPr/>
          <p:nvPr/>
        </p:nvSpPr>
        <p:spPr>
          <a:xfrm>
            <a:off x="0" y="-14500"/>
            <a:ext cx="3431013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 4"/>
          <p:cNvSpPr/>
          <p:nvPr/>
        </p:nvSpPr>
        <p:spPr>
          <a:xfrm>
            <a:off x="3431013" y="-14500"/>
            <a:ext cx="220000" cy="6858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 5"/>
          <p:cNvSpPr txBox="1"/>
          <p:nvPr/>
        </p:nvSpPr>
        <p:spPr>
          <a:xfrm>
            <a:off x="191794" y="829000"/>
            <a:ext cx="2988728" cy="18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проект</a:t>
            </a:r>
            <a:endParaRPr lang="ru-RU" sz="2800" dirty="0"/>
          </a:p>
          <a:p>
            <a:pPr algn="l"/>
            <a:r>
              <a:rPr lang="ru-RU" sz="2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дисциплине ТРПП</a:t>
            </a:r>
            <a:endParaRPr lang="ru-RU" sz="2800" dirty="0"/>
          </a:p>
        </p:txBody>
      </p:sp>
      <p:sp>
        <p:nvSpPr>
          <p:cNvPr id="6" name="Text 6"/>
          <p:cNvSpPr txBox="1"/>
          <p:nvPr/>
        </p:nvSpPr>
        <p:spPr>
          <a:xfrm>
            <a:off x="258256" y="3360243"/>
            <a:ext cx="3069478" cy="2141999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Тема проекта:</a:t>
            </a:r>
            <a:endParaRPr lang="ru-RU" sz="2200" dirty="0"/>
          </a:p>
          <a:p>
            <a:pPr algn="l"/>
            <a:r>
              <a:rPr lang="ru-RU" sz="2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Разработка реляционной базы данных для продажи билетов на мероприятия</a:t>
            </a:r>
            <a:endParaRPr lang="ru-RU" sz="2200" dirty="0"/>
          </a:p>
        </p:txBody>
      </p:sp>
      <p:sp>
        <p:nvSpPr>
          <p:cNvPr id="7" name="Box 7"/>
          <p:cNvSpPr txBox="1"/>
          <p:nvPr/>
        </p:nvSpPr>
        <p:spPr>
          <a:xfrm>
            <a:off x="3746910" y="673853"/>
            <a:ext cx="8349193" cy="2686390"/>
          </a:xfrm>
          <a:prstGeom prst="rect">
            <a:avLst/>
          </a:prstGeom>
          <a:solidFill>
            <a:srgbClr val="E7D7C1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4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Авторы:</a:t>
            </a:r>
            <a:endParaRPr lang="ru-RU" sz="2400" dirty="0"/>
          </a:p>
          <a:p>
            <a:pPr algn="l"/>
            <a:r>
              <a:rPr lang="ru-RU" sz="24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Магомедова Лолита — капитан, проектирование БД, </a:t>
            </a:r>
            <a:r>
              <a:rPr lang="en" sz="24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Docker, 01_schema.sql</a:t>
            </a:r>
          </a:p>
          <a:p>
            <a:pPr algn="l"/>
            <a:r>
              <a:rPr lang="ru-RU" sz="24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Багирян Марьям — тестовые данные, </a:t>
            </a:r>
            <a:r>
              <a:rPr lang="en" sz="24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SQL-</a:t>
            </a:r>
            <a:r>
              <a:rPr lang="ru-RU" sz="24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запросы, </a:t>
            </a:r>
            <a:r>
              <a:rPr lang="en" sz="2400" b="1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setup.py</a:t>
            </a:r>
            <a:r>
              <a:rPr lang="en" sz="24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, Sphinx</a:t>
            </a:r>
          </a:p>
          <a:p>
            <a:pPr algn="l"/>
            <a:r>
              <a:rPr lang="ru-RU" sz="24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Гаврилова Софья — документация, </a:t>
            </a:r>
            <a:r>
              <a:rPr lang="en" sz="2400" b="1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README.md</a:t>
            </a:r>
            <a:r>
              <a:rPr lang="en" sz="24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24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презентация, анализ аналогов</a:t>
            </a:r>
          </a:p>
        </p:txBody>
      </p:sp>
      <p:sp>
        <p:nvSpPr>
          <p:cNvPr id="8" name="Box 8"/>
          <p:cNvSpPr txBox="1"/>
          <p:nvPr/>
        </p:nvSpPr>
        <p:spPr>
          <a:xfrm>
            <a:off x="3758747" y="4186708"/>
            <a:ext cx="60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СУБД: </a:t>
            </a:r>
            <a:r>
              <a:rPr lang="ru-RU" sz="20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PostgreSQL</a:t>
            </a: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16</a:t>
            </a:r>
            <a:endParaRPr lang="ru-RU" sz="2000" dirty="0"/>
          </a:p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Развертывание: </a:t>
            </a:r>
            <a:r>
              <a:rPr lang="ru-RU" sz="20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</a:t>
            </a: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Desktop</a:t>
            </a:r>
            <a:endParaRPr lang="ru-RU" sz="2000" dirty="0"/>
          </a:p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Платформа: </a:t>
            </a:r>
            <a:r>
              <a:rPr lang="ru-RU" sz="20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macOS</a:t>
            </a:r>
            <a:endParaRPr lang="ru-RU" sz="2000" dirty="0"/>
          </a:p>
        </p:txBody>
      </p:sp>
      <p:sp>
        <p:nvSpPr>
          <p:cNvPr id="9" name="Text 9"/>
          <p:cNvSpPr txBox="1"/>
          <p:nvPr/>
        </p:nvSpPr>
        <p:spPr>
          <a:xfrm>
            <a:off x="5000000" y="5400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1800">
                <a:solidFill>
                  <a:srgbClr val="5E6A73"/>
                </a:solidFill>
                <a:latin typeface="Arial"/>
                <a:ea typeface="Arial"/>
                <a:cs typeface="Arial"/>
              </a:rPr>
              <a:t>Москва, 2026</a:t>
            </a:r>
            <a:endParaRPr lang="ru-RU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Актуальность, цель и задачи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Box 6"/>
          <p:cNvSpPr txBox="1"/>
          <p:nvPr/>
        </p:nvSpPr>
        <p:spPr>
          <a:xfrm>
            <a:off x="650000" y="980000"/>
            <a:ext cx="3550000" cy="33861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Актуальность:</a:t>
            </a:r>
            <a:endParaRPr lang="ru-RU" sz="2000" dirty="0"/>
          </a:p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Автоматизация продаж билетов нужна концертным площадкам, театрам, лекториям и организаторам событий. База данных позволяет хранить заказы, билеты, платежи и сведения о клиентах без потери целостности.</a:t>
            </a:r>
            <a:endParaRPr lang="ru-RU" sz="2000" dirty="0"/>
          </a:p>
        </p:txBody>
      </p:sp>
      <p:sp>
        <p:nvSpPr>
          <p:cNvPr id="7" name="Box 7"/>
          <p:cNvSpPr txBox="1"/>
          <p:nvPr/>
        </p:nvSpPr>
        <p:spPr>
          <a:xfrm>
            <a:off x="4200000" y="980000"/>
            <a:ext cx="3550000" cy="33861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Цель:</a:t>
            </a:r>
            <a:endParaRPr lang="ru-RU" sz="2000" dirty="0"/>
          </a:p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Спроектировать и реализовать реляционную базу данных, которая хранит информацию о мероприятиях, пользователях, заказах, билетах и оплатах.</a:t>
            </a:r>
            <a:endParaRPr lang="ru-RU" sz="2000" dirty="0"/>
          </a:p>
        </p:txBody>
      </p:sp>
      <p:sp>
        <p:nvSpPr>
          <p:cNvPr id="8" name="Box 8"/>
          <p:cNvSpPr txBox="1"/>
          <p:nvPr/>
        </p:nvSpPr>
        <p:spPr>
          <a:xfrm>
            <a:off x="7750000" y="980000"/>
            <a:ext cx="3550000" cy="33861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Результат:</a:t>
            </a:r>
            <a:endParaRPr lang="ru-RU" sz="2000" dirty="0"/>
          </a:p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Готовый проект запускается локально на </a:t>
            </a:r>
            <a:r>
              <a:rPr lang="ru-RU" sz="20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MacBook</a:t>
            </a: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через </a:t>
            </a:r>
            <a:r>
              <a:rPr lang="ru-RU" sz="20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</a:t>
            </a: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и содержит SQL-скрипты, тестовые данные, запросы и отдельные отчеты.</a:t>
            </a:r>
            <a:endParaRPr lang="ru-RU" sz="2000" dirty="0"/>
          </a:p>
        </p:txBody>
      </p:sp>
      <p:sp>
        <p:nvSpPr>
          <p:cNvPr id="9" name="Box 9"/>
          <p:cNvSpPr txBox="1"/>
          <p:nvPr/>
        </p:nvSpPr>
        <p:spPr>
          <a:xfrm>
            <a:off x="650000" y="4523181"/>
            <a:ext cx="10650000" cy="2334819"/>
          </a:xfrm>
          <a:prstGeom prst="rect">
            <a:avLst/>
          </a:prstGeom>
          <a:solidFill>
            <a:srgbClr val="E7D7C1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Ключевые задачи: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определить предметную область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выделить сущности и связи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реализовать схему </a:t>
            </a: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PostgreSQL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наполнить базу тестовыми данными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подготовить демонстрационные SQL-запросы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описать запуск и демонстрацию проекта на защите</a:t>
            </a:r>
            <a:endParaRPr lang="ru-RU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Предметная область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Box 6"/>
          <p:cNvSpPr txBox="1"/>
          <p:nvPr/>
        </p:nvSpPr>
        <p:spPr>
          <a:xfrm>
            <a:off x="700000" y="1400000"/>
            <a:ext cx="270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Кто работает с системой: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организаторы мероприятий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менеджеры площадок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покупатели билетов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администратор сервиса</a:t>
            </a:r>
            <a:endParaRPr lang="ru-RU" sz="2100" dirty="0"/>
          </a:p>
        </p:txBody>
      </p:sp>
      <p:sp>
        <p:nvSpPr>
          <p:cNvPr id="7" name="Box 7"/>
          <p:cNvSpPr txBox="1"/>
          <p:nvPr/>
        </p:nvSpPr>
        <p:spPr>
          <a:xfrm>
            <a:off x="3650000" y="1400000"/>
            <a:ext cx="280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Что хранится в базе: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категории событий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организаторы и площадки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мероприятия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пользователи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билеты и статусы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заказы и оплаты</a:t>
            </a:r>
            <a:endParaRPr lang="ru-RU" sz="2100" dirty="0"/>
          </a:p>
        </p:txBody>
      </p:sp>
      <p:sp>
        <p:nvSpPr>
          <p:cNvPr id="8" name="Box 8"/>
          <p:cNvSpPr txBox="1"/>
          <p:nvPr/>
        </p:nvSpPr>
        <p:spPr>
          <a:xfrm>
            <a:off x="6700000" y="1400000"/>
            <a:ext cx="450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Бизнес-процесс:</a:t>
            </a:r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1. Организатор создает мероприятие</a:t>
            </a:r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2. Для события формируются билеты</a:t>
            </a:r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3. Пользователь оформляет заказ</a:t>
            </a:r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4. Система фиксирует оплату</a:t>
            </a:r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5. Запросы показывают свободные места, продажи и выручку</a:t>
            </a:r>
            <a:endParaRPr lang="ru-RU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Архитектура решения</a:t>
            </a:r>
            <a:endParaRPr lang="ru-RU" sz="2600" dirty="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Box 6"/>
          <p:cNvSpPr txBox="1"/>
          <p:nvPr/>
        </p:nvSpPr>
        <p:spPr>
          <a:xfrm>
            <a:off x="700000" y="1600000"/>
            <a:ext cx="2300000" cy="14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macOS</a:t>
            </a:r>
            <a:r>
              <a:rPr lang="ru-RU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- </a:t>
            </a:r>
            <a:endParaRPr lang="ru-RU" sz="2200" dirty="0"/>
          </a:p>
          <a:p>
            <a:pPr algn="l"/>
            <a:r>
              <a:rPr lang="ru-RU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Рабочая среда студента</a:t>
            </a:r>
            <a:endParaRPr lang="ru-RU" sz="2200" dirty="0"/>
          </a:p>
        </p:txBody>
      </p:sp>
      <p:sp>
        <p:nvSpPr>
          <p:cNvPr id="7" name="Text 7"/>
          <p:cNvSpPr txBox="1"/>
          <p:nvPr/>
        </p:nvSpPr>
        <p:spPr>
          <a:xfrm>
            <a:off x="3150000" y="205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800" b="1">
                <a:solidFill>
                  <a:srgbClr val="C86B3C"/>
                </a:solidFill>
                <a:latin typeface="Arial"/>
                <a:ea typeface="Arial"/>
                <a:cs typeface="Arial"/>
              </a:rPr>
              <a:t>→</a:t>
            </a:r>
            <a:endParaRPr lang="ru-RU" sz="2800"/>
          </a:p>
        </p:txBody>
      </p:sp>
      <p:sp>
        <p:nvSpPr>
          <p:cNvPr id="8" name="Box 8"/>
          <p:cNvSpPr txBox="1"/>
          <p:nvPr/>
        </p:nvSpPr>
        <p:spPr>
          <a:xfrm>
            <a:off x="3800000" y="1524482"/>
            <a:ext cx="2400000" cy="1699999"/>
          </a:xfrm>
          <a:prstGeom prst="rect">
            <a:avLst/>
          </a:prstGeom>
          <a:solidFill>
            <a:srgbClr val="2E6F6D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</a:t>
            </a:r>
            <a:r>
              <a:rPr lang="ru-RU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Desktop - </a:t>
            </a:r>
            <a:endParaRPr lang="ru-RU" sz="2200" dirty="0"/>
          </a:p>
          <a:p>
            <a:pPr algn="l"/>
            <a:r>
              <a:rPr lang="ru-RU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Запускает контейнер с </a:t>
            </a:r>
            <a:r>
              <a:rPr lang="ru-RU" sz="2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  <a:endParaRPr lang="ru-RU" sz="2200" dirty="0"/>
          </a:p>
        </p:txBody>
      </p:sp>
      <p:sp>
        <p:nvSpPr>
          <p:cNvPr id="9" name="Text 9"/>
          <p:cNvSpPr txBox="1"/>
          <p:nvPr/>
        </p:nvSpPr>
        <p:spPr>
          <a:xfrm>
            <a:off x="6300000" y="205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800" b="1">
                <a:solidFill>
                  <a:srgbClr val="C86B3C"/>
                </a:solidFill>
                <a:latin typeface="Arial"/>
                <a:ea typeface="Arial"/>
                <a:cs typeface="Arial"/>
              </a:rPr>
              <a:t>→</a:t>
            </a:r>
            <a:endParaRPr lang="ru-RU" sz="2800"/>
          </a:p>
        </p:txBody>
      </p:sp>
      <p:sp>
        <p:nvSpPr>
          <p:cNvPr id="10" name="Box 10"/>
          <p:cNvSpPr txBox="1"/>
          <p:nvPr/>
        </p:nvSpPr>
        <p:spPr>
          <a:xfrm>
            <a:off x="6850000" y="1450000"/>
            <a:ext cx="2550000" cy="1699999"/>
          </a:xfrm>
          <a:prstGeom prst="rect">
            <a:avLst/>
          </a:prstGeom>
          <a:solidFill>
            <a:srgbClr val="254C6B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  <a:r>
              <a:rPr lang="ru-RU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16 - </a:t>
            </a:r>
            <a:endParaRPr lang="ru-RU" sz="2200" dirty="0"/>
          </a:p>
          <a:p>
            <a:pPr algn="l"/>
            <a:r>
              <a:rPr lang="ru-RU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Хранение структуры и данных</a:t>
            </a:r>
            <a:endParaRPr lang="ru-RU" sz="2200" dirty="0"/>
          </a:p>
        </p:txBody>
      </p:sp>
      <p:sp>
        <p:nvSpPr>
          <p:cNvPr id="11" name="Text 11"/>
          <p:cNvSpPr txBox="1"/>
          <p:nvPr/>
        </p:nvSpPr>
        <p:spPr>
          <a:xfrm>
            <a:off x="9500000" y="205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800" b="1">
                <a:solidFill>
                  <a:srgbClr val="C86B3C"/>
                </a:solidFill>
                <a:latin typeface="Arial"/>
                <a:ea typeface="Arial"/>
                <a:cs typeface="Arial"/>
              </a:rPr>
              <a:t>→</a:t>
            </a:r>
            <a:endParaRPr lang="ru-RU" sz="2800"/>
          </a:p>
        </p:txBody>
      </p:sp>
      <p:sp>
        <p:nvSpPr>
          <p:cNvPr id="12" name="Box 12"/>
          <p:cNvSpPr txBox="1"/>
          <p:nvPr/>
        </p:nvSpPr>
        <p:spPr>
          <a:xfrm>
            <a:off x="10200000" y="1600000"/>
            <a:ext cx="1538344" cy="130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</a:t>
            </a:r>
            <a:endParaRPr lang="ru-RU" sz="2200" dirty="0"/>
          </a:p>
          <a:p>
            <a:pPr algn="l"/>
            <a:r>
              <a:rPr lang="ru-RU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Запросы</a:t>
            </a:r>
            <a:endParaRPr lang="ru-RU" sz="2200" dirty="0"/>
          </a:p>
        </p:txBody>
      </p:sp>
      <p:sp>
        <p:nvSpPr>
          <p:cNvPr id="13" name="Box 13"/>
          <p:cNvSpPr txBox="1"/>
          <p:nvPr/>
        </p:nvSpPr>
        <p:spPr>
          <a:xfrm>
            <a:off x="900000" y="3800000"/>
            <a:ext cx="9850000" cy="21754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Файлы проекта</a:t>
            </a:r>
            <a:endParaRPr lang="ru-RU" sz="2100" dirty="0"/>
          </a:p>
          <a:p>
            <a:pPr algn="l"/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docker-compose.yml</a:t>
            </a: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— конфигурация контейнера</a:t>
            </a:r>
            <a:endParaRPr lang="ru-RU" sz="2100" dirty="0"/>
          </a:p>
          <a:p>
            <a:pPr algn="l"/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sql</a:t>
            </a: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/01_schema.sql — создание таблиц</a:t>
            </a:r>
            <a:endParaRPr lang="ru-RU" sz="2100" dirty="0"/>
          </a:p>
          <a:p>
            <a:pPr algn="l"/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sql</a:t>
            </a: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/02_seed.sql — тестовые данные</a:t>
            </a:r>
            <a:endParaRPr lang="ru-RU" sz="2100" dirty="0"/>
          </a:p>
          <a:p>
            <a:pPr algn="l"/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sql</a:t>
            </a: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/03_queries.sql — демонстрационные выборки</a:t>
            </a:r>
            <a:endParaRPr lang="ru-RU" sz="2100" dirty="0"/>
          </a:p>
          <a:p>
            <a:pPr algn="l"/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reports</a:t>
            </a: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/ — четыре отчета по этапам проекта</a:t>
            </a:r>
            <a:endParaRPr lang="ru-RU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веб-стран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C3606C6-248E-1577-2FCB-06CEFD7C6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9"/>
          <a:stretch/>
        </p:blipFill>
        <p:spPr>
          <a:xfrm>
            <a:off x="2209800" y="815975"/>
            <a:ext cx="7772400" cy="522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69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74439D18-E52C-7BC4-D8BE-CB9691E76E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" name="TitleBar">
            <a:extLst>
              <a:ext uri="{FF2B5EF4-FFF2-40B4-BE49-F238E27FC236}">
                <a16:creationId xmlns:a16="http://schemas.microsoft.com/office/drawing/2014/main" id="{A3C6EA6A-D094-D639-D041-40545137F52A}"/>
              </a:ext>
            </a:extLst>
          </p:cNvPr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">
            <a:extLst>
              <a:ext uri="{FF2B5EF4-FFF2-40B4-BE49-F238E27FC236}">
                <a16:creationId xmlns:a16="http://schemas.microsoft.com/office/drawing/2014/main" id="{4F136926-1B38-2A35-C88A-FC6F40E29810}"/>
              </a:ext>
            </a:extLst>
          </p:cNvPr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EE1238EB-BB3C-2C6C-171D-03872BFE2D66}"/>
              </a:ext>
            </a:extLst>
          </p:cNvPr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Основной функционал</a:t>
            </a:r>
            <a:endParaRPr lang="ru-RU" sz="2600" dirty="0"/>
          </a:p>
        </p:txBody>
      </p:sp>
      <p:sp>
        <p:nvSpPr>
          <p:cNvPr id="17" name="Box 13">
            <a:extLst>
              <a:ext uri="{FF2B5EF4-FFF2-40B4-BE49-F238E27FC236}">
                <a16:creationId xmlns:a16="http://schemas.microsoft.com/office/drawing/2014/main" id="{DE86926D-A10E-C3D4-4606-D59089F7D574}"/>
              </a:ext>
            </a:extLst>
          </p:cNvPr>
          <p:cNvSpPr txBox="1"/>
          <p:nvPr/>
        </p:nvSpPr>
        <p:spPr>
          <a:xfrm>
            <a:off x="1258450" y="1425210"/>
            <a:ext cx="9675100" cy="40075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endParaRPr lang="ru-RU" sz="2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4E80C-683D-BEA3-9A28-FF4C405D30F9}"/>
              </a:ext>
            </a:extLst>
          </p:cNvPr>
          <p:cNvSpPr txBox="1"/>
          <p:nvPr/>
        </p:nvSpPr>
        <p:spPr>
          <a:xfrm>
            <a:off x="2057400" y="1605627"/>
            <a:ext cx="8077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Хранение мероприятий с категориями, датами, организаторами и площадками </a:t>
            </a:r>
          </a:p>
          <a:p>
            <a:pPr marL="342900" indent="-342900">
              <a:buAutoNum type="arabicPeriod"/>
            </a:pPr>
            <a:r>
              <a:rPr lang="ru-RU" dirty="0"/>
              <a:t>Управление билетами по секторам и местам с отслеживанием статуса (Свободен / Продан / Забронирован)</a:t>
            </a:r>
          </a:p>
          <a:p>
            <a:pPr marL="342900" indent="-342900">
              <a:buAutoNum type="arabicPeriod"/>
            </a:pPr>
            <a:r>
              <a:rPr lang="ru-RU" dirty="0"/>
              <a:t>Оформление заказов — один пользователь может заказать несколько билетов</a:t>
            </a:r>
          </a:p>
          <a:p>
            <a:pPr marL="342900" indent="-342900">
              <a:buAutoNum type="arabicPeriod"/>
            </a:pPr>
            <a:r>
              <a:rPr lang="ru-RU" dirty="0"/>
              <a:t>Фиксация оплат с указанием способа, суммы и статуса транзакции</a:t>
            </a:r>
          </a:p>
          <a:p>
            <a:pPr marL="342900" indent="-342900">
              <a:buAutoNum type="arabicPeriod"/>
            </a:pPr>
            <a:r>
              <a:rPr lang="ru-RU" dirty="0"/>
              <a:t>Аналитические запросы: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список мероприятий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количество проданных билетов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выручка по заказам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свободные места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итоговая выручка по мероприятиям</a:t>
            </a:r>
          </a:p>
        </p:txBody>
      </p:sp>
    </p:spTree>
    <p:extLst>
      <p:ext uri="{BB962C8B-B14F-4D97-AF65-F5344CB8AC3E}">
        <p14:creationId xmlns:p14="http://schemas.microsoft.com/office/powerpoint/2010/main" val="3977560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9BB357D-C044-E3C5-EE4F-697E33AFEA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3" name="TitleBar">
            <a:extLst>
              <a:ext uri="{FF2B5EF4-FFF2-40B4-BE49-F238E27FC236}">
                <a16:creationId xmlns:a16="http://schemas.microsoft.com/office/drawing/2014/main" id="{96FDE121-A146-5946-5486-A0266A587B75}"/>
              </a:ext>
            </a:extLst>
          </p:cNvPr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Accent">
            <a:extLst>
              <a:ext uri="{FF2B5EF4-FFF2-40B4-BE49-F238E27FC236}">
                <a16:creationId xmlns:a16="http://schemas.microsoft.com/office/drawing/2014/main" id="{3507CA36-633A-6006-0136-5EECDB34CCAD}"/>
              </a:ext>
            </a:extLst>
          </p:cNvPr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117EDA03-4A07-B242-DDEB-B2F94F8D01AB}"/>
              </a:ext>
            </a:extLst>
          </p:cNvPr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Аналоги системы</a:t>
            </a:r>
            <a:endParaRPr lang="ru-RU" sz="2600" dirty="0"/>
          </a:p>
        </p:txBody>
      </p:sp>
      <p:sp>
        <p:nvSpPr>
          <p:cNvPr id="12" name="Box 6">
            <a:extLst>
              <a:ext uri="{FF2B5EF4-FFF2-40B4-BE49-F238E27FC236}">
                <a16:creationId xmlns:a16="http://schemas.microsoft.com/office/drawing/2014/main" id="{6EB19189-828A-73DC-1955-EF593752CC67}"/>
              </a:ext>
            </a:extLst>
          </p:cNvPr>
          <p:cNvSpPr txBox="1"/>
          <p:nvPr/>
        </p:nvSpPr>
        <p:spPr>
          <a:xfrm>
            <a:off x="657998" y="2439500"/>
            <a:ext cx="3192002" cy="197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/>
              <a:t>Яндекс Афиша, </a:t>
            </a:r>
            <a:r>
              <a:rPr lang="ru-RU" sz="2100" dirty="0" err="1"/>
              <a:t>Кассир.ру</a:t>
            </a:r>
            <a:r>
              <a:rPr lang="ru-RU" sz="2100" dirty="0"/>
              <a:t>, </a:t>
            </a:r>
            <a:r>
              <a:rPr lang="en" sz="2100" dirty="0" err="1"/>
              <a:t>Timepad</a:t>
            </a:r>
            <a:r>
              <a:rPr lang="en" sz="2100" dirty="0"/>
              <a:t>, Ticketmaster</a:t>
            </a:r>
            <a:endParaRPr lang="ru-RU" sz="2100" dirty="0"/>
          </a:p>
        </p:txBody>
      </p:sp>
      <p:sp>
        <p:nvSpPr>
          <p:cNvPr id="13" name="Box 7">
            <a:extLst>
              <a:ext uri="{FF2B5EF4-FFF2-40B4-BE49-F238E27FC236}">
                <a16:creationId xmlns:a16="http://schemas.microsoft.com/office/drawing/2014/main" id="{590F5A9E-6040-90DA-B081-DE3CA1624C7F}"/>
              </a:ext>
            </a:extLst>
          </p:cNvPr>
          <p:cNvSpPr txBox="1"/>
          <p:nvPr/>
        </p:nvSpPr>
        <p:spPr>
          <a:xfrm>
            <a:off x="4500000" y="1963250"/>
            <a:ext cx="3200000" cy="293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/>
              <a:t>Ограничения аналогов: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/>
              <a:t>закрытый исходный код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/>
              <a:t>избыточный функционал для малого бизнеса</a:t>
            </a:r>
          </a:p>
          <a:p>
            <a:pPr algn="l"/>
            <a:endParaRPr lang="ru-RU" sz="2100" dirty="0"/>
          </a:p>
        </p:txBody>
      </p:sp>
      <p:sp>
        <p:nvSpPr>
          <p:cNvPr id="14" name="Box 8">
            <a:extLst>
              <a:ext uri="{FF2B5EF4-FFF2-40B4-BE49-F238E27FC236}">
                <a16:creationId xmlns:a16="http://schemas.microsoft.com/office/drawing/2014/main" id="{08922675-0EA9-609C-3884-EEED42300D62}"/>
              </a:ext>
            </a:extLst>
          </p:cNvPr>
          <p:cNvSpPr txBox="1"/>
          <p:nvPr/>
        </p:nvSpPr>
        <p:spPr>
          <a:xfrm>
            <a:off x="8349999" y="1450000"/>
            <a:ext cx="3422901" cy="425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/>
              <a:t>Наши преимущества: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/>
              <a:t>открытый исходный код (</a:t>
            </a:r>
            <a:r>
              <a:rPr lang="en" sz="2100" dirty="0"/>
              <a:t>GitHub)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/>
              <a:t>d</a:t>
            </a:r>
            <a:r>
              <a:rPr lang="en" sz="2100" dirty="0" err="1"/>
              <a:t>ocker</a:t>
            </a:r>
            <a:r>
              <a:rPr lang="en" sz="2100" dirty="0"/>
              <a:t>-</a:t>
            </a:r>
            <a:r>
              <a:rPr lang="ru-RU" sz="2100" dirty="0"/>
              <a:t>инициализация (запуск одной командой)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/>
              <a:t>учебная наглядность (12 таблиц, 3НФ)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/>
              <a:t>готовность к аналитике (</a:t>
            </a:r>
            <a:r>
              <a:rPr lang="en" sz="2100" dirty="0"/>
              <a:t>SQL-</a:t>
            </a:r>
            <a:r>
              <a:rPr lang="ru-RU" sz="2100" dirty="0"/>
              <a:t>запросы)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/>
              <a:t>воспроизводимость на любой платформе</a:t>
            </a:r>
          </a:p>
        </p:txBody>
      </p:sp>
    </p:spTree>
    <p:extLst>
      <p:ext uri="{BB962C8B-B14F-4D97-AF65-F5344CB8AC3E}">
        <p14:creationId xmlns:p14="http://schemas.microsoft.com/office/powerpoint/2010/main" val="362400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Структура базы данных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Box 6"/>
          <p:cNvSpPr txBox="1"/>
          <p:nvPr/>
        </p:nvSpPr>
        <p:spPr>
          <a:xfrm>
            <a:off x="650000" y="1450000"/>
            <a:ext cx="3200000" cy="3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Справочники: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event_category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ticket_status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order_status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payment_method</a:t>
            </a:r>
            <a:endParaRPr lang="ru-RU" sz="2100" dirty="0"/>
          </a:p>
          <a:p>
            <a:pPr algn="l"/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Они хранят типы и статусы, чтобы не дублировать текстовые значения в рабочих таблицах.</a:t>
            </a:r>
            <a:endParaRPr lang="ru-RU" sz="2100" dirty="0"/>
          </a:p>
        </p:txBody>
      </p:sp>
      <p:sp>
        <p:nvSpPr>
          <p:cNvPr id="7" name="Box 7"/>
          <p:cNvSpPr txBox="1"/>
          <p:nvPr/>
        </p:nvSpPr>
        <p:spPr>
          <a:xfrm>
            <a:off x="4500000" y="1450000"/>
            <a:ext cx="3200000" cy="3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Основные сущности: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organizer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venue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app_user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event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ticket</a:t>
            </a:r>
            <a:endParaRPr lang="ru-RU" sz="2100" dirty="0"/>
          </a:p>
          <a:p>
            <a:pPr algn="l"/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Эти таблицы описывают участников процесса и сами мероприятия.</a:t>
            </a:r>
            <a:endParaRPr lang="ru-RU" sz="2100" dirty="0"/>
          </a:p>
        </p:txBody>
      </p:sp>
      <p:sp>
        <p:nvSpPr>
          <p:cNvPr id="8" name="Box 8"/>
          <p:cNvSpPr txBox="1"/>
          <p:nvPr/>
        </p:nvSpPr>
        <p:spPr>
          <a:xfrm>
            <a:off x="8349999" y="1450000"/>
            <a:ext cx="3324549" cy="3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Документы и операции: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customer_order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order_item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payment</a:t>
            </a:r>
            <a:endParaRPr lang="ru-RU" sz="2100" dirty="0"/>
          </a:p>
          <a:p>
            <a:pPr algn="l"/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Они фиксируют факт покупки, состав заказа и успешную оплату.</a:t>
            </a:r>
            <a:endParaRPr lang="ru-RU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Связи и ограничения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Box 6"/>
          <p:cNvSpPr txBox="1"/>
          <p:nvPr/>
        </p:nvSpPr>
        <p:spPr>
          <a:xfrm>
            <a:off x="700000" y="1500000"/>
            <a:ext cx="4839563" cy="44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Основные связи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одна категория соответствует многим мероприятиям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один организатор проводит несколько мероприятий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одна площадка принимает несколько событий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одно мероприятие содержит много билетов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один пользователь может создать несколько заказов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один заказ содержит несколько позиций заказа</a:t>
            </a:r>
            <a:endParaRPr lang="ru-RU" sz="2100" dirty="0"/>
          </a:p>
        </p:txBody>
      </p:sp>
      <p:sp>
        <p:nvSpPr>
          <p:cNvPr id="7" name="Box 7"/>
          <p:cNvSpPr txBox="1"/>
          <p:nvPr/>
        </p:nvSpPr>
        <p:spPr>
          <a:xfrm>
            <a:off x="6400000" y="921920"/>
            <a:ext cx="4350000" cy="3222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Ограничения целостности: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первичные ключи во всех таблицах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внешние ключи между связанными сущностями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проверка положительной стоимости и вместимости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уникальность </a:t>
            </a:r>
            <a:r>
              <a:rPr lang="ru-RU" sz="21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email</a:t>
            </a: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, телефона, ИНН и места в рамках одного события</a:t>
            </a:r>
            <a:endParaRPr lang="ru-RU" sz="2100" dirty="0"/>
          </a:p>
        </p:txBody>
      </p:sp>
      <p:sp>
        <p:nvSpPr>
          <p:cNvPr id="8" name="Box 8"/>
          <p:cNvSpPr txBox="1"/>
          <p:nvPr/>
        </p:nvSpPr>
        <p:spPr>
          <a:xfrm>
            <a:off x="6400000" y="4216500"/>
            <a:ext cx="4500000" cy="2283000"/>
          </a:xfrm>
          <a:prstGeom prst="rect">
            <a:avLst/>
          </a:prstGeom>
          <a:solidFill>
            <a:srgbClr val="E7D7C1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Нормализация:</a:t>
            </a:r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Схема приведена к 3НФ справочники вынесены отдельно, дублирование сведений минимизировано, обновление данных не приводит к противоречиям.</a:t>
            </a:r>
            <a:endParaRPr lang="ru-RU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данные и запросы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Box 6"/>
          <p:cNvSpPr txBox="1"/>
          <p:nvPr/>
        </p:nvSpPr>
        <p:spPr>
          <a:xfrm>
            <a:off x="750000" y="980000"/>
            <a:ext cx="3150000" cy="326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Тестовые данные: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3 категории мероприятий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2 организатора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2 площадки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3 пользователя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3 мероприятия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7 билетов</a:t>
            </a:r>
            <a:endParaRPr lang="ru-RU" sz="21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3 заказа и 2 оплаты</a:t>
            </a:r>
            <a:endParaRPr lang="ru-RU" sz="2100" dirty="0"/>
          </a:p>
        </p:txBody>
      </p:sp>
      <p:sp>
        <p:nvSpPr>
          <p:cNvPr id="7" name="Box 7"/>
          <p:cNvSpPr txBox="1"/>
          <p:nvPr/>
        </p:nvSpPr>
        <p:spPr>
          <a:xfrm>
            <a:off x="4196707" y="925000"/>
            <a:ext cx="3306586" cy="37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Примеры событий: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Весенний джазовый вечер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Современная драма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Лекция по управлению проектами</a:t>
            </a:r>
            <a:endParaRPr lang="ru-RU" sz="2000" dirty="0"/>
          </a:p>
          <a:p>
            <a:pPr algn="l"/>
            <a:endParaRPr lang="ru-RU" sz="2000" dirty="0"/>
          </a:p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Это делает демонстрацию понятной и близкой к реальному сервису.</a:t>
            </a:r>
            <a:endParaRPr lang="ru-RU" sz="2000" dirty="0"/>
          </a:p>
        </p:txBody>
      </p:sp>
      <p:sp>
        <p:nvSpPr>
          <p:cNvPr id="8" name="Box 8"/>
          <p:cNvSpPr txBox="1"/>
          <p:nvPr/>
        </p:nvSpPr>
        <p:spPr>
          <a:xfrm>
            <a:off x="7800000" y="1190000"/>
            <a:ext cx="3550000" cy="28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Демонстрационные запросы: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список мероприятий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число проданных билетов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выручка по заказам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свободные билеты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итоговая выручка по мероприятиям</a:t>
            </a:r>
            <a:endParaRPr lang="ru-RU" sz="2000" dirty="0"/>
          </a:p>
        </p:txBody>
      </p:sp>
      <p:sp>
        <p:nvSpPr>
          <p:cNvPr id="9" name="Box 9"/>
          <p:cNvSpPr txBox="1"/>
          <p:nvPr/>
        </p:nvSpPr>
        <p:spPr>
          <a:xfrm>
            <a:off x="900000" y="4883000"/>
            <a:ext cx="9900000" cy="1500000"/>
          </a:xfrm>
          <a:prstGeom prst="rect">
            <a:avLst/>
          </a:prstGeom>
          <a:solidFill>
            <a:srgbClr val="254C6B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Практический эффект:</a:t>
            </a:r>
            <a:endParaRPr lang="ru-RU" sz="2200" dirty="0"/>
          </a:p>
          <a:p>
            <a:pPr algn="l"/>
            <a:r>
              <a:rPr lang="ru-RU" sz="2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Запросы показывают, что база не только хранит данные, но и позволяет анализировать продажи, загрузку мероприятий и финансовые показатели.</a:t>
            </a:r>
            <a:endParaRPr lang="ru-RU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Запуск проекта на MacBook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Box 6"/>
          <p:cNvSpPr txBox="1"/>
          <p:nvPr/>
        </p:nvSpPr>
        <p:spPr>
          <a:xfrm>
            <a:off x="650000" y="1400000"/>
            <a:ext cx="5300000" cy="4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Команды для демонстрации:</a:t>
            </a: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cd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"/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Users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/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lolitamagomedova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/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Documents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/New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project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/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final_db_project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"</a:t>
            </a: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--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version</a:t>
            </a: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compose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version</a:t>
            </a: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compose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up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-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</a:t>
            </a: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ps</a:t>
            </a: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exec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-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it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trpp_final_postgres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psql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-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U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postgres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-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event_ticketing_db</a:t>
            </a:r>
            <a:endParaRPr lang="ru-RU" sz="1800" dirty="0"/>
          </a:p>
        </p:txBody>
      </p:sp>
      <p:sp>
        <p:nvSpPr>
          <p:cNvPr id="7" name="Box 7"/>
          <p:cNvSpPr txBox="1"/>
          <p:nvPr/>
        </p:nvSpPr>
        <p:spPr>
          <a:xfrm>
            <a:off x="6300000" y="1400000"/>
            <a:ext cx="5000000" cy="4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Что показать внутри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psql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\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dt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:</a:t>
            </a: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SELECT * FROM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event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;</a:t>
            </a: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SELECT * FROM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ticket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;</a:t>
            </a: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SELECT * FROM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customer_order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;</a:t>
            </a:r>
            <a:endParaRPr lang="ru-RU" sz="1800" dirty="0"/>
          </a:p>
          <a:p>
            <a:pPr algn="l"/>
            <a:endParaRPr lang="ru-RU" sz="1800" dirty="0"/>
          </a:p>
          <a:p>
            <a:pPr algn="l"/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Выполнение всех запросов сразу:</a:t>
            </a: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exec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-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i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trpp_final_postgres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psql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-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U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postgres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-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event_ticketing_db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&lt;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sql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/03_queries.sql</a:t>
            </a:r>
            <a:endParaRPr lang="ru-RU" sz="1800" dirty="0"/>
          </a:p>
          <a:p>
            <a:pPr algn="l"/>
            <a:endParaRPr lang="ru-RU" sz="1800" dirty="0"/>
          </a:p>
          <a:p>
            <a:pPr algn="l"/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Остановка:</a:t>
            </a:r>
            <a:endParaRPr lang="ru-RU" sz="1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docker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compose</a:t>
            </a:r>
            <a:r>
              <a:rPr lang="ru-RU" sz="18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 err="1">
                <a:solidFill>
                  <a:srgbClr val="1D2730"/>
                </a:solidFill>
                <a:latin typeface="Arial"/>
                <a:ea typeface="Arial"/>
                <a:cs typeface="Arial"/>
              </a:rPr>
              <a:t>down</a:t>
            </a:r>
            <a:endParaRPr lang="ru-RU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Bar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50000" y="130000"/>
            <a:ext cx="90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Результаты проекта</a:t>
            </a:r>
            <a:endParaRPr lang="ru-RU" sz="2600"/>
          </a:p>
        </p:txBody>
      </p:sp>
      <p:sp>
        <p:nvSpPr>
          <p:cNvPr id="5" name="Accent"/>
          <p:cNvSpPr/>
          <p:nvPr/>
        </p:nvSpPr>
        <p:spPr>
          <a:xfrm>
            <a:off x="10750000" y="0"/>
            <a:ext cx="1440000" cy="850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Box 6"/>
          <p:cNvSpPr txBox="1"/>
          <p:nvPr/>
        </p:nvSpPr>
        <p:spPr>
          <a:xfrm>
            <a:off x="692000" y="1058549"/>
            <a:ext cx="3319107" cy="25829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Что реализовано:</a:t>
            </a:r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Полная структура базы данных, ограничения целостности, тестовые данные, SQL-запросы и документация по запуску.</a:t>
            </a:r>
            <a:endParaRPr lang="ru-RU" sz="2100" dirty="0"/>
          </a:p>
        </p:txBody>
      </p:sp>
      <p:sp>
        <p:nvSpPr>
          <p:cNvPr id="7" name="Box 7"/>
          <p:cNvSpPr txBox="1"/>
          <p:nvPr/>
        </p:nvSpPr>
        <p:spPr>
          <a:xfrm>
            <a:off x="4300311" y="1058549"/>
            <a:ext cx="3591378" cy="268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Преимущества решения:</a:t>
            </a:r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Простое развертывание, понятная схема, возможность расширения и наглядность для учебной защиты.</a:t>
            </a:r>
            <a:endParaRPr lang="ru-RU" sz="2100" dirty="0"/>
          </a:p>
        </p:txBody>
      </p:sp>
      <p:sp>
        <p:nvSpPr>
          <p:cNvPr id="8" name="Box 8"/>
          <p:cNvSpPr txBox="1"/>
          <p:nvPr/>
        </p:nvSpPr>
        <p:spPr>
          <a:xfrm>
            <a:off x="8299999" y="1252693"/>
            <a:ext cx="3319107" cy="21946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Возможности развития:</a:t>
            </a:r>
            <a:endParaRPr lang="ru-RU" sz="2100" dirty="0"/>
          </a:p>
          <a:p>
            <a:pPr algn="l"/>
            <a:r>
              <a:rPr lang="ru-RU" sz="2100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Веб-интерфейс, возвраты билетов, роли пользователей, история операций, интеграция онлайн-оплаты.</a:t>
            </a:r>
            <a:endParaRPr lang="ru-RU" sz="2100" dirty="0"/>
          </a:p>
        </p:txBody>
      </p:sp>
      <p:sp>
        <p:nvSpPr>
          <p:cNvPr id="9" name="Box 9"/>
          <p:cNvSpPr txBox="1"/>
          <p:nvPr/>
        </p:nvSpPr>
        <p:spPr>
          <a:xfrm>
            <a:off x="1496000" y="4796604"/>
            <a:ext cx="9200000" cy="1721153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Итог.</a:t>
            </a:r>
            <a:endParaRPr lang="ru-RU" sz="2400" dirty="0"/>
          </a:p>
          <a:p>
            <a:pPr algn="l"/>
            <a:r>
              <a:rPr lang="ru-RU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Цель проекта достигнута: спроектирована и подготовлена к демонстрации реляционная база данных для сервиса продажи билетов на мероприятия.</a:t>
            </a:r>
            <a:endParaRPr lang="ru-RU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 3"/>
          <p:cNvSpPr/>
          <p:nvPr/>
        </p:nvSpPr>
        <p:spPr>
          <a:xfrm>
            <a:off x="0" y="5500000"/>
            <a:ext cx="12192000" cy="1358000"/>
          </a:xfrm>
          <a:prstGeom prst="rect">
            <a:avLst/>
          </a:prstGeom>
          <a:solidFill>
            <a:srgbClr val="C86B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 4"/>
          <p:cNvSpPr txBox="1"/>
          <p:nvPr/>
        </p:nvSpPr>
        <p:spPr>
          <a:xfrm>
            <a:off x="900000" y="1200000"/>
            <a:ext cx="70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 за внимание</a:t>
            </a:r>
            <a:endParaRPr lang="ru-RU" sz="3000"/>
          </a:p>
        </p:txBody>
      </p:sp>
      <p:sp>
        <p:nvSpPr>
          <p:cNvPr id="5" name="Text 5"/>
          <p:cNvSpPr txBox="1"/>
          <p:nvPr/>
        </p:nvSpPr>
        <p:spPr>
          <a:xfrm>
            <a:off x="900000" y="2450000"/>
            <a:ext cx="80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10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Готовы ответить на вопросы по структуре БД, SQL-запросам и запуску проекта</a:t>
            </a:r>
            <a:endParaRPr lang="ru-RU" sz="2100"/>
          </a:p>
        </p:txBody>
      </p:sp>
      <p:sp>
        <p:nvSpPr>
          <p:cNvPr id="6" name="Box 6"/>
          <p:cNvSpPr txBox="1"/>
          <p:nvPr/>
        </p:nvSpPr>
        <p:spPr>
          <a:xfrm>
            <a:off x="8539566" y="3425000"/>
            <a:ext cx="3373356" cy="1900000"/>
          </a:xfrm>
          <a:prstGeom prst="rect">
            <a:avLst/>
          </a:prstGeom>
          <a:solidFill>
            <a:srgbClr val="E7D7C1"/>
          </a:solidFill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22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Авторы:</a:t>
            </a:r>
            <a:endParaRPr lang="ru-RU" sz="2200" dirty="0"/>
          </a:p>
          <a:p>
            <a:pPr algn="l"/>
            <a:r>
              <a:rPr lang="ru-RU" sz="22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Магомедова Лолита</a:t>
            </a:r>
            <a:endParaRPr lang="ru-RU" sz="2200" dirty="0"/>
          </a:p>
          <a:p>
            <a:pPr algn="l"/>
            <a:r>
              <a:rPr lang="ru-RU" sz="22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Багирян Марьям</a:t>
            </a:r>
          </a:p>
          <a:p>
            <a:pPr algn="l"/>
            <a:r>
              <a:rPr lang="ru-RU" sz="22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  <a:t>Гаврилова Софья</a:t>
            </a:r>
            <a:br>
              <a:rPr lang="ru-RU" sz="2200" b="1" dirty="0">
                <a:solidFill>
                  <a:srgbClr val="1D2730"/>
                </a:solidFill>
                <a:latin typeface="Arial"/>
                <a:ea typeface="Arial"/>
                <a:cs typeface="Arial"/>
              </a:rPr>
            </a:br>
            <a:endParaRPr lang="ru-RU" sz="2200" dirty="0"/>
          </a:p>
        </p:txBody>
      </p:sp>
      <p:sp>
        <p:nvSpPr>
          <p:cNvPr id="7" name="Text 7"/>
          <p:cNvSpPr txBox="1"/>
          <p:nvPr/>
        </p:nvSpPr>
        <p:spPr>
          <a:xfrm>
            <a:off x="900000" y="58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110000" rIns="140000" bIns="110000" anchor="ctr"/>
          <a:lstStyle/>
          <a:p>
            <a:pPr algn="l"/>
            <a:r>
              <a:rPr lang="ru-RU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проект ТРПП • 2026</a:t>
            </a:r>
            <a:endParaRPr lang="ru-RU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</Words>
  <Application>Microsoft Macintosh PowerPoint</Application>
  <PresentationFormat>Широкоэкранный</PresentationFormat>
  <Paragraphs>184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Итоговая презентация ТРПП</dc:title>
  <dc:creator>Codex</dc:creator>
  <cp:lastModifiedBy>Марьям Багирян</cp:lastModifiedBy>
  <cp:revision>1</cp:revision>
  <dcterms:created xsi:type="dcterms:W3CDTF">2026-05-12T09:59:47Z</dcterms:created>
  <dcterms:modified xsi:type="dcterms:W3CDTF">2026-05-19T08:50:34Z</dcterms:modified>
</cp:coreProperties>
</file>